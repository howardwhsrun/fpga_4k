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a3242587f2f476c" /><Relationship Type="http://schemas.openxmlformats.org/officeDocument/2006/relationships/extended-properties" Target="/docProps/app.xml" Id="R1c1ade591d9f4d26" /><Relationship Type="http://schemas.openxmlformats.org/officeDocument/2006/relationships/officeDocument" Target="/ppt/presentation.xml" Id="Rdea7d477261641e6" /></Relationships>
</file>

<file path=ppt/presentation.xml><?xml version="1.0" encoding="utf-8"?>
<p:presentation xmlns:p="http://schemas.openxmlformats.org/presentationml/2006/main">
  <p:sldMasterIdLst>
    <p:sldMasterId xmlns:r="http://schemas.openxmlformats.org/officeDocument/2006/relationships" id="2147483648" r:id="R2033a4086d5a4034"/>
  </p:sldMasterIdLst>
  <p:notesMasterIdLst>
    <p:notesMasterId xmlns:r="http://schemas.openxmlformats.org/officeDocument/2006/relationships" r:id="R4476e994c0aa45f8"/>
  </p:notesMasterIdLst>
  <p:sldIdLst>
    <p:sldId xmlns:r="http://schemas.openxmlformats.org/officeDocument/2006/relationships" id="256" r:id="R200e9e2d763f4787"/>
    <p:sldId xmlns:r="http://schemas.openxmlformats.org/officeDocument/2006/relationships" id="257" r:id="R2e645c8b7a674680"/>
    <p:sldId xmlns:r="http://schemas.openxmlformats.org/officeDocument/2006/relationships" id="258" r:id="R12d830e875fc4566"/>
    <p:sldId xmlns:r="http://schemas.openxmlformats.org/officeDocument/2006/relationships" id="259" r:id="R2fb9b8658ca54c96"/>
    <p:sldId xmlns:r="http://schemas.openxmlformats.org/officeDocument/2006/relationships" id="260" r:id="R30f48cd3d3ec447f"/>
    <p:sldId xmlns:r="http://schemas.openxmlformats.org/officeDocument/2006/relationships" id="261" r:id="R18b8dd6ad63b4524"/>
    <p:sldId xmlns:r="http://schemas.openxmlformats.org/officeDocument/2006/relationships" id="262" r:id="Rfb746bac71ea4c3f"/>
    <p:sldId xmlns:r="http://schemas.openxmlformats.org/officeDocument/2006/relationships" id="263" r:id="R31deaba07e7345e4"/>
    <p:sldId xmlns:r="http://schemas.openxmlformats.org/officeDocument/2006/relationships" id="264" r:id="Ra1676d438fa7497c"/>
    <p:sldId xmlns:r="http://schemas.openxmlformats.org/officeDocument/2006/relationships" id="265" r:id="R200526f9a9944ee4"/>
    <p:sldId xmlns:r="http://schemas.openxmlformats.org/officeDocument/2006/relationships" id="266" r:id="Rafe6d8c0494d4cc0"/>
    <p:sldId xmlns:r="http://schemas.openxmlformats.org/officeDocument/2006/relationships" id="267" r:id="R4d8f2f48d21a474c"/>
    <p:sldId xmlns:r="http://schemas.openxmlformats.org/officeDocument/2006/relationships" id="268" r:id="R997d94c5454040c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d50727990864bb8" /><Relationship Type="http://schemas.openxmlformats.org/officeDocument/2006/relationships/slideMaster" Target="/ppt/slideMasters/slideMaster1.xml" Id="R2033a4086d5a4034" /><Relationship Type="http://schemas.openxmlformats.org/officeDocument/2006/relationships/notesMaster" Target="/ppt/notesMasters/notesMaster1.xml" Id="R4476e994c0aa45f8" /><Relationship Type="http://schemas.openxmlformats.org/officeDocument/2006/relationships/presProps" Target="/ppt/presProps.xml" Id="R253b9519dbea4b26" /><Relationship Type="http://schemas.openxmlformats.org/officeDocument/2006/relationships/tableStyles" Target="/ppt/tableStyles.xml" Id="R38525cb7e8cf43db" /><Relationship Type="http://schemas.openxmlformats.org/officeDocument/2006/relationships/slide" Target="/ppt/slides/slide1.xml" Id="R200e9e2d763f4787" /><Relationship Type="http://schemas.openxmlformats.org/officeDocument/2006/relationships/slide" Target="/ppt/slides/slide2.xml" Id="R2e645c8b7a674680" /><Relationship Type="http://schemas.openxmlformats.org/officeDocument/2006/relationships/slide" Target="/ppt/slides/slide3.xml" Id="R12d830e875fc4566" /><Relationship Type="http://schemas.openxmlformats.org/officeDocument/2006/relationships/slide" Target="/ppt/slides/slide4.xml" Id="R2fb9b8658ca54c96" /><Relationship Type="http://schemas.openxmlformats.org/officeDocument/2006/relationships/slide" Target="/ppt/slides/slide5.xml" Id="R30f48cd3d3ec447f" /><Relationship Type="http://schemas.openxmlformats.org/officeDocument/2006/relationships/slide" Target="/ppt/slides/slide6.xml" Id="R18b8dd6ad63b4524" /><Relationship Type="http://schemas.openxmlformats.org/officeDocument/2006/relationships/slide" Target="/ppt/slides/slide7.xml" Id="Rfb746bac71ea4c3f" /><Relationship Type="http://schemas.openxmlformats.org/officeDocument/2006/relationships/slide" Target="/ppt/slides/slide8.xml" Id="R31deaba07e7345e4" /><Relationship Type="http://schemas.openxmlformats.org/officeDocument/2006/relationships/slide" Target="/ppt/slides/slide9.xml" Id="Ra1676d438fa7497c" /><Relationship Type="http://schemas.openxmlformats.org/officeDocument/2006/relationships/slide" Target="/ppt/slides/slide10.xml" Id="R200526f9a9944ee4" /><Relationship Type="http://schemas.openxmlformats.org/officeDocument/2006/relationships/slide" Target="/ppt/slides/slide11.xml" Id="Rafe6d8c0494d4cc0" /><Relationship Type="http://schemas.openxmlformats.org/officeDocument/2006/relationships/slide" Target="/ppt/slides/slide12.xml" Id="R4d8f2f48d21a474c" /><Relationship Type="http://schemas.openxmlformats.org/officeDocument/2006/relationships/slide" Target="/ppt/slides/slide13.xml" Id="R997d94c5454040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88aee8daa32470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4e8ec5f50f944d2" /><Relationship Type="http://schemas.openxmlformats.org/officeDocument/2006/relationships/notesMaster" Target="/ppt/notesMasters/notesMaster1.xml" Id="R7fccc62c9d854b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770633c8fe48c3" /><Relationship Type="http://schemas.openxmlformats.org/officeDocument/2006/relationships/notesMaster" Target="/ppt/notesMasters/notesMaster1.xml" Id="R2ae979307b364ca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c88e428c5a4bd9" /><Relationship Type="http://schemas.openxmlformats.org/officeDocument/2006/relationships/notesMaster" Target="/ppt/notesMasters/notesMaster1.xml" Id="R73587882258541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91d738054f504b08" /><Relationship Type="http://schemas.openxmlformats.org/officeDocument/2006/relationships/notesMaster" Target="/ppt/notesMasters/notesMaster1.xml" Id="R1945564d2848480e" /></Relationships>
</file>

<file path=ppt/notesSlides/_rels/notesSlide5.xml.rels>&#65279;<?xml version="1.0" encoding="utf-8"?><Relationships xmlns="http://schemas.openxmlformats.org/package/2006/relationships"><Relationship Type="http://schemas.openxmlformats.org/officeDocument/2006/relationships/slide" Target="/ppt/slides/slide5.xml" Id="R875a749955b7464f" /><Relationship Type="http://schemas.openxmlformats.org/officeDocument/2006/relationships/notesMaster" Target="/ppt/notesMasters/notesMaster1.xml" Id="Rd5a1d7579d7c46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59a705a812ce4a72" /><Relationship Type="http://schemas.openxmlformats.org/officeDocument/2006/relationships/notesMaster" Target="/ppt/notesMasters/notesMaster1.xml" Id="Reb134d96bc46418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f5060baf3b4a34" /><Relationship Type="http://schemas.openxmlformats.org/officeDocument/2006/relationships/notesMaster" Target="/ppt/notesMasters/notesMaster1.xml" Id="Ra196ad826e094ac6" /></Relationships>
</file>

<file path=ppt/notesSlides/_rels/notesSlide8.xml.rels>&#65279;<?xml version="1.0" encoding="utf-8"?><Relationships xmlns="http://schemas.openxmlformats.org/package/2006/relationships"><Relationship Type="http://schemas.openxmlformats.org/officeDocument/2006/relationships/slide" Target="/ppt/slides/slide8.xml" Id="R340e18213dda4e52" /><Relationship Type="http://schemas.openxmlformats.org/officeDocument/2006/relationships/notesMaster" Target="/ppt/notesMasters/notesMaster1.xml" Id="R3df3e40215414331" /></Relationships>
</file>

<file path=ppt/notesSlides/_rels/notesSlide9.xml.rels>&#65279;<?xml version="1.0" encoding="utf-8"?><Relationships xmlns="http://schemas.openxmlformats.org/package/2006/relationships"><Relationship Type="http://schemas.openxmlformats.org/officeDocument/2006/relationships/slide" Target="/ppt/slides/slide9.xml" Id="R34d4113b0b494689" /><Relationship Type="http://schemas.openxmlformats.org/officeDocument/2006/relationships/notesMaster" Target="/ppt/notesMasters/notesMaster1.xml" Id="Ra3f6f5ac90d5410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85fc82b489a4be5" /><Relationship Type="http://schemas.openxmlformats.org/officeDocument/2006/relationships/notesMaster" Target="/ppt/notesMasters/notesMaster1.xml" Id="R33feeca42bc044d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f93ee79ba2146f2" /><Relationship Type="http://schemas.openxmlformats.org/officeDocument/2006/relationships/notesMaster" Target="/ppt/notesMasters/notesMaster1.xml" Id="Rb7a960a9cf99456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cf828c69184504" /><Relationship Type="http://schemas.openxmlformats.org/officeDocument/2006/relationships/notesMaster" Target="/ppt/notesMasters/notesMaster1.xml" Id="Ra675ac05572a4e7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3154d0daeb94da7" /><Relationship Type="http://schemas.openxmlformats.org/officeDocument/2006/relationships/notesMaster" Target="/ppt/notesMasters/notesMaster1.xml" Id="R467ab915aa1443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am presenting our FPGA component and PCB progress together with the LDO carrier work. The main update is a simpler 35T candidate and a clearer routing approach. The board images come from the actual native projects. We still need routing, timing, power and physical verification before operating the system.</a:t>
            </a:r>
          </a:p>
          <a:p xmlns:a="http://schemas.openxmlformats.org/drawingml/2006/main">
            <a:r>
              <a:t/>
            </a:r>
          </a:p>
          <a:p xmlns:a="http://schemas.openxmlformats.org/drawingml/2006/main">
            <a:r>
              <a:t>Sources: Zitong’s 7 October component proposal; 6 October M1 candidate and LDO carrier reviews.</a:t>
            </a:r>
          </a:p>
          <a:p xmlns:a="http://schemas.openxmlformats.org/drawingml/2006/main">
            <a:r>
              <a:t>Source files and provenance: https://howardwhsrun.github.io/FPGA_4K/presentation/meetings/2026-10-07.html#files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separate boards and revisions. M1 is the latest custom-FPGA prototype candidate. The existing LDO remains the source board. The Desktop carrier is the newest received layout, and we compare it with yesterday’s connector-foundation snapshot. None of these labels imply a fabricated or tested system.</a:t>
            </a:r>
          </a:p>
          <a:p xmlns:a="http://schemas.openxmlformats.org/drawingml/2006/main">
            <a:r>
              <a:t/>
            </a:r>
          </a:p>
          <a:p xmlns:a="http://schemas.openxmlformats.org/drawingml/2006/main">
            <a:r>
              <a:t>Sources: M1 START_HERE and native project; Original LDO native schematic; Board_Howard source package.</a:t>
            </a:r>
          </a:p>
          <a:p xmlns:a="http://schemas.openxmlformats.org/drawingml/2006/main">
            <a:r>
              <a:t>Source files and provenance: https://howardwhsrun.github.io/FPGA_4K/presentation/meetings/2026-10-07.html#files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Zitong’s original slide proposes these five parts. M1 retains the selected 35T and adopts the clock, flash and translator. It does not fit the proposed LMK splitter yet. The deck’s stock number is a reported value only. The 128 Mbit flash capacity is 16 MB.</a:t>
            </a:r>
          </a:p>
          <a:p xmlns:a="http://schemas.openxmlformats.org/drawingml/2006/main">
            <a:r>
              <a:t/>
            </a:r>
          </a:p>
          <a:p xmlns:a="http://schemas.openxmlformats.org/drawingml/2006/main">
            <a:r>
              <a:t>Sources: Zitong_1007 (1).pptx, slide 1; M1 clock and flash implementation reviews.</a:t>
            </a:r>
          </a:p>
          <a:p xmlns:a="http://schemas.openxmlformats.org/drawingml/2006/main">
            <a:r>
              <a:t>Source files and provenance: https://howardwhsrun.github.io/FPGA_4K/presentation/meetings/2026-10-07.html#files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oscillator fits the reference-clock interface as a prototype selection. Its quoted 186 fs jitter was characterized at 3.3 V, so it does not settle the 1.8 V clock qualification. We need to verify the internal fabric-clock route and resolve the ppm mismatch. NVT4858 comes from an SD/SDIO application, and the implemented SPI adaptation still requires physical boot checks. RMS phase jitter also does not verify the slide’s peak-to-peak cycle-to-cycle jitter requirement. The proposed LMK exact-part hyperlink differs from the typed suffix and needs checking if later fitted.</a:t>
            </a:r>
          </a:p>
          <a:p xmlns:a="http://schemas.openxmlformats.org/drawingml/2006/main">
            <a:r>
              <a:t/>
            </a:r>
          </a:p>
          <a:p xmlns:a="http://schemas.openxmlformats.org/drawingml/2006/main">
            <a:r>
              <a:t>Sources: Zitong slide 1; M1 Zitong_Clock_Implementation.md; M1 Zitong_Flash_Implementation.md.</a:t>
            </a:r>
          </a:p>
          <a:p xmlns:a="http://schemas.openxmlformats.org/drawingml/2006/main">
            <a:r>
              <a:t>Source files and provenance: https://howardwhsrun.github.io/FPGA_4K/presentation/meetings/2026-10-07.html#files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board size stays at 41 by 41 millimeters. We have removed parts and regrouped clock and flash support, but freed placement space does not automatically make the board smaller. The four floating mezzanine connectors remain on the bottom. This is the actual M1 PCB, with expected unrouted connections. The earlier README lists 40 × 40 mm, but fresh native centerline geometry measures 41 × 41 mm. Use the measured outline here. The CLI lists only 499 of the 1,091 actual pending PCB connections.</a:t>
            </a:r>
          </a:p>
          <a:p xmlns:a="http://schemas.openxmlformats.org/drawingml/2006/main">
            <a:r>
              <a:t/>
            </a:r>
          </a:p>
          <a:p xmlns:a="http://schemas.openxmlformats.org/drawingml/2006/main">
            <a:r>
              <a:t>Sources: FPGA35T_M1.kicad_pcb; M1 native validation and snapshot manifest.</a:t>
            </a:r>
          </a:p>
          <a:p xmlns:a="http://schemas.openxmlformats.org/drawingml/2006/main">
            <a:r>
              <a:t>Source files and provenance: https://howardwhsrun.github.io/FPGA_4K/presentation/meetings/2026-10-07.html#files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Rotate the model to show the component side and the four bottom connector locations. The geometry comes from the native PCB. Some bodies are explicitly labeled nominal envelopes, including the new oscillator and translator. This model supports review of placement and side, but cannot establish a populated fit result.</a:t>
            </a:r>
          </a:p>
          <a:p xmlns:a="http://schemas.openxmlformats.org/drawingml/2006/main">
            <a:r>
              <a:t/>
            </a:r>
          </a:p>
          <a:p xmlns:a="http://schemas.openxmlformats.org/drawingml/2006/main">
            <a:r>
              <a:t>Sources: M1 native 3D export; M1 3D model provenance.</a:t>
            </a:r>
          </a:p>
          <a:p xmlns:a="http://schemas.openxmlformats.org/drawingml/2006/main">
            <a:r>
              <a:t>Source files and provenance: https://howardwhsrun.github.io/FPGA_4K/presentation/meetings/2026-10-07.html#files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references support trying direct nominal 1.5 V signaling. Recording returns remain individual wires. Shared outgoing controls can have heavier loads as we scale to eight ASICs. We should add a targeted driver only where load or edge evidence supports it. We have not removed the 22 receive-default arrays or replaced them with a verified firmware policy. Native ERC, physical DRC and parity are zero, with PCB routing still open.</a:t>
            </a:r>
          </a:p>
          <a:p xmlns:a="http://schemas.openxmlformats.org/drawingml/2006/main">
            <a:r>
              <a:t/>
            </a:r>
          </a:p>
          <a:p xmlns:a="http://schemas.openxmlformats.org/drawingml/2006/main">
            <a:r>
              <a:t>Sources: M1 independent connectivity verification; 6 October same-ASIC LDO/ECP5 comparison.</a:t>
            </a:r>
          </a:p>
          <a:p xmlns:a="http://schemas.openxmlformats.org/drawingml/2006/main">
            <a:r>
              <a:t>Source files and provenance: https://howardwhsrun.github.io/FPGA_4K/presentation/meetings/2026-10-07.html#files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October 6 feedback highlighted routing quality, regular placement and unmatched delays. The earlier directions also call for power-distribution checks, practical blind-via escapes, compact placement and bottom connectors. Our engineering application is to review the full signal and return path, not only visual symmetry. A factory stackup and guaranteed ASIC timing still need evidence.</a:t>
            </a:r>
          </a:p>
          <a:p xmlns:a="http://schemas.openxmlformats.org/drawingml/2006/main">
            <a:r>
              <a:t/>
            </a:r>
          </a:p>
          <a:p xmlns:a="http://schemas.openxmlformats.org/drawingml/2006/main">
            <a:r>
              <a:t>Sources: 6 October recorded Gerald feedback and routing plan; 4 October recorded routing directions.</a:t>
            </a:r>
          </a:p>
          <a:p xmlns:a="http://schemas.openxmlformats.org/drawingml/2006/main">
            <a:r>
              <a:t>Source files and provenance: https://howardwhsrun.github.io/FPGA_4K/presentation/meetings/2026-10-07.html#files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Gerald’s existing LDO design. Its 23 digital signals pass directly between the connectors. The rail intents include separate nominal 1.5 V domains, 1.6 V, 0.75 V and two high-stage circuits. The high-stage sign and reference must stay explicit. All nine LDO power-good outputs are unused in the saved circuit, so a raw-input monitor does not establish that every ASIC rail is ready. Actual fitted parts, currents, return bonding and power order remain to be checked.</a:t>
            </a:r>
          </a:p>
          <a:p xmlns:a="http://schemas.openxmlformats.org/drawingml/2006/main">
            <a:r>
              <a:t/>
            </a:r>
          </a:p>
          <a:p xmlns:a="http://schemas.openxmlformats.org/drawingml/2006/main">
            <a:r>
              <a:t>Sources: Original LDO PCB and schematic; ASIC_REFERENCE rail matrix and unknowns; LDO direct-path review.</a:t>
            </a:r>
          </a:p>
          <a:p xmlns:a="http://schemas.openxmlformats.org/drawingml/2006/main">
            <a:r>
              <a:t>Source files and provenance: https://howardwhsrun.github.io/FPGA_4K/presentation/meetings/2026-10-07.html#files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new Desktop package contains the connector-foundation carrier. Show where the LDO and XEM sockets sit and how the recording bus runs between them. Do not call this a complete powered carrier. The older R3 and R5 circuits remain different revisions, and the R3 manufacturing hold remains in place. The received board uses two copper layers and has no ground plane. The saved Step 8 uses four copper layers and a dedicated In1.Cu DGND plane.</a:t>
            </a:r>
          </a:p>
          <a:p xmlns:a="http://schemas.openxmlformats.org/drawingml/2006/main">
            <a:r>
              <a:t/>
            </a:r>
          </a:p>
          <a:p xmlns:a="http://schemas.openxmlformats.org/drawingml/2006/main">
            <a:r>
              <a:t>Sources: Board_Howard.zip and native Desktop project; Saved Step 8 connector foundation.</a:t>
            </a:r>
          </a:p>
          <a:p xmlns:a="http://schemas.openxmlformats.org/drawingml/2006/main">
            <a:r>
              <a:t>Source files and provenance: https://howardwhsrun.github.io/FPGA_4K/presentation/meetings/2026-10-07.html#files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Rotate the new received carrier to show the LDO-side and XEM-side mating locations. This is a PCB preview, not a mechanically qualified assembled XEM/LDO stack. The native snapshots preserve both the Desktop source and yesterday’s baseline so the changed layout can be reviewed in KiCad.</a:t>
            </a:r>
          </a:p>
          <a:p xmlns:a="http://schemas.openxmlformats.org/drawingml/2006/main">
            <a:r>
              <a:t/>
            </a:r>
          </a:p>
          <a:p xmlns:a="http://schemas.openxmlformats.org/drawingml/2006/main">
            <a:r>
              <a:t>Sources: Board_Howard native PCB and 3D export provenance.</a:t>
            </a:r>
          </a:p>
          <a:p xmlns:a="http://schemas.openxmlformats.org/drawingml/2006/main">
            <a:r>
              <a:t>Source files and provenance: https://howardwhsrun.github.io/FPGA_4K/presentation/meetings/2026-10-07.html#files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new Desktop draft has changed copper and needs review before replacing the applied Step 8 baseline. Fresh native checks report 59 native DRC findings: 38 errors and 21 dangling-track warnings, 20 assigned unconnected items and 204 parity warnings. The same parity total does not mean every entry is the same. Step 8’s 234 unassigned contacts were checked independently, and its 204 parity warnings remain recorded. Neither set of checks establishes complete timing or a powered carrier. The 15.283 mm spread describes only the saved baseline and has no accepted skew threshold.</a:t>
            </a:r>
          </a:p>
          <a:p xmlns:a="http://schemas.openxmlformats.org/drawingml/2006/main">
            <a:r>
              <a:t/>
            </a:r>
          </a:p>
          <a:p xmlns:a="http://schemas.openxmlformats.org/drawingml/2006/main">
            <a:r>
              <a:t>Sources: 6 October Step 8 native and independent checks; 7 October Desktop comparison.</a:t>
            </a:r>
          </a:p>
          <a:p xmlns:a="http://schemas.openxmlformats.org/drawingml/2006/main">
            <a:r>
              <a:t>Source files and provenance: https://howardwhsrun.github.io/FPGA_4K/presentation/meetings/2026-10-07.html#files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next concrete review should use the native two-sheet FPGA drawing and the new carrier PCB. The requirements that still need ASIC-side evidence are pad levels, recording data-valid timing, rail currents and power-loss behavior. The fabrication stackup and mechanical seating need supplier or physical evidence. The one-chip XEM path is the first integration step, with eight-chip scaling following verified results.</a:t>
            </a:r>
          </a:p>
          <a:p xmlns:a="http://schemas.openxmlformats.org/drawingml/2006/main">
            <a:r>
              <a:t/>
            </a:r>
          </a:p>
          <a:p xmlns:a="http://schemas.openxmlformats.org/drawingml/2006/main">
            <a:r>
              <a:t>Sources: M1 remaining operation gates; ASIC_REFERENCE U01–U09; Carrier manufacturing hold and routing plan.</a:t>
            </a:r>
          </a:p>
          <a:p xmlns:a="http://schemas.openxmlformats.org/drawingml/2006/main">
            <a:r>
              <a:t>Source files and provenance: https://howardwhsrun.github.io/FPGA_4K/presentation/meetings/2026-10-07.html#files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44336770714d6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3c53d6e52c7455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a79aa448ea24c0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2463daea131454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fbcf95d55344f3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256bebb703046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DF105F-50AE-4AAB-8E26-8BECB1C6CAC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D71BE43-446E-49A0-91E7-B2BE34A9DE1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18585C6-4FA6-44F4-8DBD-579109FBAE5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3C39D34-CC9A-450B-BAD0-0A55AF8129B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2FD3971-4AE8-4174-AAEC-0A28E4B55C0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F661BC8-A54C-4E21-803C-10D2C9B4A02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3EC0B39-B70F-47C9-A490-DB9C4B1FA5F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EB14D48-F8D1-48F6-BCA6-F6BD917A3E1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7C56144-A61E-4954-9481-D35CE85C70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5A86A38-1F26-4837-9F7D-642FD129EB9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2fe9a7bf3694313" /><Relationship Type="http://schemas.openxmlformats.org/officeDocument/2006/relationships/slideLayout" Target="/ppt/slideLayouts/slideLayout1.xml" Id="R6d8bbdf08ab644f2" /><Relationship Type="http://schemas.openxmlformats.org/officeDocument/2006/relationships/slideLayout" Target="/ppt/slideLayouts/slideLayout2.xml" Id="R2e9dc9d5117f471f" /><Relationship Type="http://schemas.openxmlformats.org/officeDocument/2006/relationships/slideLayout" Target="/ppt/slideLayouts/slideLayout3.xml" Id="R986deadff5ef4552" /><Relationship Type="http://schemas.openxmlformats.org/officeDocument/2006/relationships/slideLayout" Target="/ppt/slideLayouts/slideLayout4.xml" Id="R745f5389c3044580" /><Relationship Type="http://schemas.openxmlformats.org/officeDocument/2006/relationships/slideLayout" Target="/ppt/slideLayouts/slideLayout5.xml" Id="R5ff5b53d59504521" /><Relationship Type="http://schemas.openxmlformats.org/officeDocument/2006/relationships/slideLayout" Target="/ppt/slideLayouts/slideLayout6.xml" Id="Rc74ef91a68b043e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d8bbdf08ab644f2"/>
    <p:sldLayoutId xmlns:r="http://schemas.openxmlformats.org/officeDocument/2006/relationships" id="2147483650" r:id="R2e9dc9d5117f471f"/>
    <p:sldLayoutId xmlns:r="http://schemas.openxmlformats.org/officeDocument/2006/relationships" id="2147483651" r:id="R986deadff5ef4552"/>
    <p:sldLayoutId xmlns:r="http://schemas.openxmlformats.org/officeDocument/2006/relationships" id="2147483652" r:id="R745f5389c3044580"/>
    <p:sldLayoutId xmlns:r="http://schemas.openxmlformats.org/officeDocument/2006/relationships" id="2147483653" r:id="R5ff5b53d59504521"/>
    <p:sldLayoutId xmlns:r="http://schemas.openxmlformats.org/officeDocument/2006/relationships" id="2147483654" r:id="Rc74ef91a68b043e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988ddc09afa4a83" /><Relationship Type="http://schemas.openxmlformats.org/officeDocument/2006/relationships/notesSlide" Target="/ppt/notesSlides/notesSlide1.xml" Id="R824e62f3f3f04c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e994622f31c4925" /><Relationship Type="http://schemas.openxmlformats.org/officeDocument/2006/relationships/notesSlide" Target="/ppt/notesSlides/notesSlide2.xml" Id="R2dc172f9fe65407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578632f88a0434c" /><Relationship Type="http://schemas.openxmlformats.org/officeDocument/2006/relationships/notesSlide" Target="/ppt/notesSlides/notesSlide3.xml" Id="R88208f7a02df47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a32e62d80e84b81" /><Relationship Type="http://schemas.openxmlformats.org/officeDocument/2006/relationships/notesSlide" Target="/ppt/notesSlides/notesSlide4.xml" Id="Rbbb851f97f5c452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a74a7a2e9a446db" /><Relationship Type="http://schemas.openxmlformats.org/officeDocument/2006/relationships/image" Target="/ppt/media/image.png" Id="R8e6b40efe14146c5" /><Relationship Type="http://schemas.openxmlformats.org/officeDocument/2006/relationships/image" Target="/ppt/media/image2.png" Id="R82c4672de2b94bce" /><Relationship Type="http://schemas.openxmlformats.org/officeDocument/2006/relationships/notesSlide" Target="/ppt/notesSlides/notesSlide5.xml" Id="R04035a3b25204f4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904df92b9d14f30" /><Relationship Type="http://schemas.openxmlformats.org/officeDocument/2006/relationships/image" Target="/ppt/media/image3.png" Id="R00d6df0545174159" /><Relationship Type="http://schemas.openxmlformats.org/officeDocument/2006/relationships/notesSlide" Target="/ppt/notesSlides/notesSlide6.xml" Id="Rbf596446235d4aa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1d508b0ed1943fb" /><Relationship Type="http://schemas.openxmlformats.org/officeDocument/2006/relationships/notesSlide" Target="/ppt/notesSlides/notesSlide7.xml" Id="R8ac70925a6274b9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1cd61c0a43e4b3a" /><Relationship Type="http://schemas.openxmlformats.org/officeDocument/2006/relationships/notesSlide" Target="/ppt/notesSlides/notesSlide8.xml" Id="R883ee6c84d81458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9da74c6ed364207" /><Relationship Type="http://schemas.openxmlformats.org/officeDocument/2006/relationships/image" Target="/ppt/media/image4.png" Id="R946bde60b4924939" /><Relationship Type="http://schemas.openxmlformats.org/officeDocument/2006/relationships/image" Target="/ppt/media/image5.png" Id="R8e88633458c247b7" /><Relationship Type="http://schemas.openxmlformats.org/officeDocument/2006/relationships/notesSlide" Target="/ppt/notesSlides/notesSlide9.xml" Id="R5c2a999fdb6b4c0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67dd15ac4ee4d20" /><Relationship Type="http://schemas.openxmlformats.org/officeDocument/2006/relationships/image" Target="/ppt/media/image6.png" Id="Rdb8add54ec664629" /><Relationship Type="http://schemas.openxmlformats.org/officeDocument/2006/relationships/image" Target="/ppt/media/image7.png" Id="Ra17a461abf0a45d4" /><Relationship Type="http://schemas.openxmlformats.org/officeDocument/2006/relationships/notesSlide" Target="/ppt/notesSlides/notesSlide10.xml" Id="Rf98270948343451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069b236efe146a1" /><Relationship Type="http://schemas.openxmlformats.org/officeDocument/2006/relationships/image" Target="/ppt/media/image8.png" Id="Rc435c42b286f4b27" /><Relationship Type="http://schemas.openxmlformats.org/officeDocument/2006/relationships/notesSlide" Target="/ppt/notesSlides/notesSlide11.xml" Id="R4200d54db7e64ce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43c3fa07e184264" /><Relationship Type="http://schemas.openxmlformats.org/officeDocument/2006/relationships/notesSlide" Target="/ppt/notesSlides/notesSlide12.xml" Id="Rd1cd64bfb868428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1ce7baf54084ad1" /><Relationship Type="http://schemas.openxmlformats.org/officeDocument/2006/relationships/notesSlide" Target="/ppt/notesSlides/notesSlide13.xml" Id="Rbe5b240ab741437d"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0ABBCAC-D1EE-4ED2-8357-61D8D7EF84EA}"/>
              </a:ext>
            </a:extLst>
          </p:cNvPr>
          <p:cNvSpPr>
            <a:spLocks xmlns:a="http://schemas.openxmlformats.org/drawingml/2006/main" noGrp="1"/>
          </p:cNvSpPr>
          <p:nvPr/>
        </p:nvSpPr>
        <p:spPr>
          <a:xfrm xmlns:a="http://schemas.openxmlformats.org/drawingml/2006/main">
            <a:off x="609600" y="8763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26A71"/>
                </a:solidFill>
                <a:latin typeface="Helvetica Neue"/>
                <a:ea typeface="Helvetica Neue"/>
                <a:cs typeface="Helvetica Neue"/>
              </a:defRPr>
            </a:defPPr>
          </a:lstStyle>
          <a:p xmlns:a="http://schemas.openxmlformats.org/drawingml/2006/main">
            <a:pPr>
              <a:defRPr sz="1800" b="0">
                <a:solidFill>
                  <a:srgbClr val="126A71"/>
                </a:solidFill>
                <a:latin typeface="Helvetica Neue"/>
                <a:ea typeface="Helvetica Neue"/>
                <a:cs typeface="Helvetica Neue"/>
              </a:defRPr>
            </a:pPr>
            <a:r>
              <a:rPr sz="1800" b="0">
                <a:solidFill>
                  <a:srgbClr val="126A71"/>
                </a:solidFill>
                <a:latin typeface="Helvetica Neue"/>
                <a:ea typeface="Helvetica Neue"/>
                <a:cs typeface="Helvetica Neue"/>
              </a:rPr>
              <a:t>Wednesday, 7 October 2026</a:t>
            </a:r>
          </a:p>
        </p:txBody>
      </p:sp>
      <p:sp>
        <p:nvSpPr>
          <p:cNvPr id="2" name="">
            <a:extLst xmlns:a="http://schemas.openxmlformats.org/drawingml/2006/main">
              <a:ext uri="{FF2B5EF4-FFF2-40B4-BE49-F238E27FC236}">
                <a16:creationId xmlns:a16="http://schemas.microsoft.com/office/drawing/2014/main" id="{E3A2643E-F978-45BE-B16E-CD9EBA018256}"/>
              </a:ext>
            </a:extLst>
          </p:cNvPr>
          <p:cNvSpPr>
            <a:spLocks xmlns:a="http://schemas.openxmlformats.org/drawingml/2006/main" noGrp="1"/>
          </p:cNvSpPr>
          <p:nvPr/>
        </p:nvSpPr>
        <p:spPr>
          <a:xfrm xmlns:a="http://schemas.openxmlformats.org/drawingml/2006/main">
            <a:off x="609600" y="1676400"/>
            <a:ext cx="10096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172A32"/>
                </a:solidFill>
                <a:latin typeface="Helvetica Neue"/>
                <a:ea typeface="Helvetica Neue"/>
                <a:cs typeface="Helvetica Neue"/>
              </a:defRPr>
            </a:defPPr>
          </a:lstStyle>
          <a:p xmlns:a="http://schemas.openxmlformats.org/drawingml/2006/main">
            <a:pPr>
              <a:defRPr sz="4800" b="1">
                <a:solidFill>
                  <a:srgbClr val="172A32"/>
                </a:solidFill>
                <a:latin typeface="Helvetica Neue"/>
                <a:ea typeface="Helvetica Neue"/>
                <a:cs typeface="Helvetica Neue"/>
              </a:defRPr>
            </a:pPr>
            <a:r>
              <a:rPr sz="4800" b="1">
                <a:solidFill>
                  <a:srgbClr val="172A32"/>
                </a:solidFill>
                <a:latin typeface="Helvetica Neue"/>
                <a:ea typeface="Helvetica Neue"/>
                <a:cs typeface="Helvetica Neue"/>
              </a:rPr>
              <a:t>FPGA PCB and LDO update</a:t>
            </a:r>
          </a:p>
        </p:txBody>
      </p:sp>
      <p:sp>
        <p:nvSpPr>
          <p:cNvPr id="3" name="">
            <a:extLst xmlns:a="http://schemas.openxmlformats.org/drawingml/2006/main">
              <a:ext uri="{FF2B5EF4-FFF2-40B4-BE49-F238E27FC236}">
                <a16:creationId xmlns:a16="http://schemas.microsoft.com/office/drawing/2014/main" id="{85B07184-4E1D-4791-8B5B-3005D787CE5B}"/>
              </a:ext>
            </a:extLst>
          </p:cNvPr>
          <p:cNvSpPr>
            <a:spLocks xmlns:a="http://schemas.openxmlformats.org/drawingml/2006/main" noGrp="1"/>
          </p:cNvSpPr>
          <p:nvPr/>
        </p:nvSpPr>
        <p:spPr>
          <a:xfrm xmlns:a="http://schemas.openxmlformats.org/drawingml/2006/main">
            <a:off x="609600" y="35242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2A32"/>
                </a:solidFill>
                <a:latin typeface="Helvetica Neue"/>
                <a:ea typeface="Helvetica Neue"/>
                <a:cs typeface="Helvetica Neue"/>
              </a:defRPr>
            </a:defPPr>
          </a:lstStyle>
          <a:p xmlns:a="http://schemas.openxmlformats.org/drawingml/2006/main">
            <a:pPr>
              <a:defRPr sz="2175" b="0">
                <a:solidFill>
                  <a:srgbClr val="172A32"/>
                </a:solidFill>
                <a:latin typeface="Helvetica Neue"/>
                <a:ea typeface="Helvetica Neue"/>
                <a:cs typeface="Helvetica Neue"/>
              </a:defRPr>
            </a:pPr>
            <a:r>
              <a:rPr sz="2175" b="0">
                <a:solidFill>
                  <a:srgbClr val="172A32"/>
                </a:solidFill>
                <a:latin typeface="Helvetica Neue"/>
                <a:ea typeface="Helvetica Neue"/>
                <a:cs typeface="Helvetica Neue"/>
              </a:rPr>
              <a:t>Howard Wang and Zitong</a:t>
            </a:r>
          </a:p>
        </p:txBody>
      </p:sp>
      <p:sp>
        <p:nvSpPr>
          <p:cNvPr id="4" name="">
            <a:extLst xmlns:a="http://schemas.openxmlformats.org/drawingml/2006/main">
              <a:ext uri="{FF2B5EF4-FFF2-40B4-BE49-F238E27FC236}">
                <a16:creationId xmlns:a16="http://schemas.microsoft.com/office/drawing/2014/main" id="{847AF7ED-E5C7-45BF-97BC-CE5FEDBEB1F1}"/>
              </a:ext>
            </a:extLst>
          </p:cNvPr>
          <p:cNvSpPr>
            <a:spLocks xmlns:a="http://schemas.openxmlformats.org/drawingml/2006/main" noGrp="1"/>
          </p:cNvSpPr>
          <p:nvPr/>
        </p:nvSpPr>
        <p:spPr>
          <a:xfrm xmlns:a="http://schemas.openxmlformats.org/drawingml/2006/main">
            <a:off x="609600" y="41624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4C6068"/>
                </a:solidFill>
                <a:latin typeface="Helvetica Neue"/>
                <a:ea typeface="Helvetica Neue"/>
                <a:cs typeface="Helvetica Neue"/>
              </a:defRPr>
            </a:defPPr>
          </a:lstStyle>
          <a:p xmlns:a="http://schemas.openxmlformats.org/drawingml/2006/main">
            <a:pPr>
              <a:defRPr sz="2175" b="0">
                <a:solidFill>
                  <a:srgbClr val="4C6068"/>
                </a:solidFill>
                <a:latin typeface="Helvetica Neue"/>
                <a:ea typeface="Helvetica Neue"/>
                <a:cs typeface="Helvetica Neue"/>
              </a:defRPr>
            </a:pPr>
            <a:r>
              <a:rPr sz="2175" b="0">
                <a:solidFill>
                  <a:srgbClr val="4C6068"/>
                </a:solidFill>
                <a:latin typeface="Helvetica Neue"/>
                <a:ea typeface="Helvetica Neue"/>
                <a:cs typeface="Helvetica Neue"/>
              </a:rPr>
              <a:t>Main 35T component choices, compact PCB candidate and direct LDO carrier</a:t>
            </a:r>
          </a:p>
        </p:txBody>
      </p:sp>
      <p:sp>
        <p:nvSpPr>
          <p:cNvPr id="5" name="">
            <a:extLst xmlns:a="http://schemas.openxmlformats.org/drawingml/2006/main">
              <a:ext uri="{FF2B5EF4-FFF2-40B4-BE49-F238E27FC236}">
                <a16:creationId xmlns:a16="http://schemas.microsoft.com/office/drawing/2014/main" id="{832FE0E9-5FB6-4B79-A666-F338A5AF0355}"/>
              </a:ext>
            </a:extLst>
          </p:cNvPr>
          <p:cNvSpPr>
            <a:spLocks xmlns:a="http://schemas.openxmlformats.org/drawingml/2006/main" noGrp="1"/>
          </p:cNvSpPr>
          <p:nvPr/>
        </p:nvSpPr>
        <p:spPr>
          <a:xfrm xmlns:a="http://schemas.openxmlformats.org/drawingml/2006/main">
            <a:off x="609600" y="5934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C6068"/>
                </a:solidFill>
                <a:latin typeface="Helvetica Neue"/>
                <a:ea typeface="Helvetica Neue"/>
                <a:cs typeface="Helvetica Neue"/>
              </a:defRPr>
            </a:defPPr>
          </a:lstStyle>
          <a:p xmlns:a="http://schemas.openxmlformats.org/drawingml/2006/main">
            <a:pPr>
              <a:defRPr sz="1500" b="0">
                <a:solidFill>
                  <a:srgbClr val="4C6068"/>
                </a:solidFill>
                <a:latin typeface="Helvetica Neue"/>
                <a:ea typeface="Helvetica Neue"/>
                <a:cs typeface="Helvetica Neue"/>
              </a:defRPr>
            </a:pPr>
            <a:r>
              <a:rPr sz="1500" b="0">
                <a:solidFill>
                  <a:srgbClr val="4C6068"/>
                </a:solidFill>
                <a:latin typeface="Helvetica Neue"/>
                <a:ea typeface="Helvetica Neue"/>
                <a:cs typeface="Helvetica Neue"/>
              </a:rPr>
              <a:t>Design review. Routing and hardware qualification remain in progress.</a:t>
            </a:r>
          </a:p>
        </p:txBody>
      </p:sp>
      <p:sp>
        <p:nvSpPr>
          <p:cNvPr id="6" name="">
            <a:extLst xmlns:a="http://schemas.openxmlformats.org/drawingml/2006/main">
              <a:ext uri="{FF2B5EF4-FFF2-40B4-BE49-F238E27FC236}">
                <a16:creationId xmlns:a16="http://schemas.microsoft.com/office/drawing/2014/main" id="{82B6FBA8-F453-403B-8AA0-1C5DEF8EBEDB}"/>
              </a:ext>
            </a:extLst>
          </p:cNvPr>
          <p:cNvSpPr>
            <a:spLocks xmlns:a="http://schemas.openxmlformats.org/drawingml/2006/main" noGrp="1"/>
          </p:cNvSpPr>
          <p:nvPr/>
        </p:nvSpPr>
        <p:spPr>
          <a:xfrm xmlns:a="http://schemas.openxmlformats.org/drawingml/2006/main">
            <a:off x="11334750" y="6619875"/>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4C6068"/>
                </a:solidFill>
                <a:latin typeface="Helvetica Neue"/>
                <a:ea typeface="Helvetica Neue"/>
                <a:cs typeface="Helvetica Neue"/>
              </a:defRPr>
            </a:defPPr>
          </a:lstStyle>
          <a:p xmlns:a="http://schemas.openxmlformats.org/drawingml/2006/main">
            <a:pPr>
              <a:defRPr sz="900" b="0">
                <a:solidFill>
                  <a:srgbClr val="4C6068"/>
                </a:solidFill>
                <a:latin typeface="Helvetica Neue"/>
                <a:ea typeface="Helvetica Neue"/>
                <a:cs typeface="Helvetica Neue"/>
              </a:defRPr>
            </a:pPr>
            <a:r>
              <a:rPr sz="900" b="0">
                <a:solidFill>
                  <a:srgbClr val="4C6068"/>
                </a:solidFill>
                <a:latin typeface="Helvetica Neue"/>
                <a:ea typeface="Helvetica Neue"/>
                <a:cs typeface="Helvetica Neue"/>
              </a:rPr>
              <a:t>01 / 13</a:t>
            </a:r>
          </a:p>
        </p:txBody>
      </p:sp>
    </p:spTree>
    <p:extLst>
      <p:ext uri="{BB962C8B-B14F-4D97-AF65-F5344CB8AC3E}">
        <p14:creationId xmlns:p14="http://schemas.microsoft.com/office/powerpoint/2010/main" val="1804490582"/>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D182CB9-2B0A-452A-A8C6-86D18F268A6E}"/>
              </a:ext>
            </a:extLst>
          </p:cNvPr>
          <p:cNvSpPr>
            <a:spLocks xmlns:a="http://schemas.openxmlformats.org/drawingml/2006/main" noGrp="1"/>
          </p:cNvSpPr>
          <p:nvPr/>
        </p:nvSpPr>
        <p:spPr>
          <a:xfrm xmlns:a="http://schemas.openxmlformats.org/drawingml/2006/main">
            <a:off x="609600" y="457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2A32"/>
                </a:solidFill>
                <a:latin typeface="Helvetica Neue"/>
                <a:ea typeface="Helvetica Neue"/>
                <a:cs typeface="Helvetica Neue"/>
              </a:defRPr>
            </a:defPPr>
          </a:lstStyle>
          <a:p xmlns:a="http://schemas.openxmlformats.org/drawingml/2006/main">
            <a:pPr>
              <a:defRPr sz="3225" b="1">
                <a:solidFill>
                  <a:srgbClr val="172A32"/>
                </a:solidFill>
                <a:latin typeface="Helvetica Neue"/>
                <a:ea typeface="Helvetica Neue"/>
                <a:cs typeface="Helvetica Neue"/>
              </a:defRPr>
            </a:pPr>
            <a:r>
              <a:rPr sz="3225" b="1">
                <a:solidFill>
                  <a:srgbClr val="172A32"/>
                </a:solidFill>
                <a:latin typeface="Helvetica Neue"/>
                <a:ea typeface="Helvetica Neue"/>
                <a:cs typeface="Helvetica Neue"/>
              </a:rPr>
              <a:t>Current board list</a:t>
            </a:r>
          </a:p>
        </p:txBody>
      </p:sp>
      <p:graphicFrame>
        <p:nvGraphicFramePr>
          <p:cNvPr id="2" name="">
            <a:extLst xmlns:a="http://schemas.openxmlformats.org/drawingml/2006/main">
              <a:ext uri="{FF2B5EF4-FFF2-40B4-BE49-F238E27FC236}">
                <a16:creationId xmlns:a16="http://schemas.microsoft.com/office/drawing/2014/main" id="{6F8B4094-BDFF-412F-AFBD-71AAC9918F39}"/>
              </a:ext>
            </a:extLst>
          </p:cNvPr>
          <p:cNvGraphicFramePr/>
          <p:nvPr/>
        </p:nvGraphicFramePr>
        <p:xfrm>
          <a:off xmlns:a="http://schemas.openxmlformats.org/drawingml/2006/main" x="609600" y="1476375"/>
          <a:ext xmlns:a="http://schemas.openxmlformats.org/drawingml/2006/main" cx="10972800" cy="3571875"/>
        </p:xfrm>
        <a:graphic xmlns:a="http://schemas.openxmlformats.org/drawingml/2006/main">
          <a:graphicData uri="http://schemas.openxmlformats.org/drawingml/2006/table">
            <a:tbl>
              <a:tblPr/>
              <a:tblGrid>
                <a:gridCol w="2781300"/>
                <a:gridCol w="4095750"/>
                <a:gridCol w="4095750"/>
              </a:tblGrid>
              <a:tr h="714375">
                <a:tc>
                  <a:txBody>
                    <a:bodyPr/>
                    <a:lstStyle/>
                    <a:p>
                      <a:r>
                        <a:rPr sz="1800" b="1">
                          <a:solidFill>
                            <a:srgbClr val="126A71"/>
                          </a:solidFill>
                          <a:latin typeface="Helvetica Neue"/>
                          <a:ea typeface="Helvetica Neue"/>
                          <a:cs typeface="Helvetica Neue"/>
                        </a:rPr>
                        <a:t>Board</a:t>
                      </a:r>
                    </a:p>
                  </a:txBody>
                  <a:tcPr marL="95250" marR="95250" marT="123825" marB="95250">
                    <a:solidFill>
                      <a:srgbClr val="FCFCFA"/>
                    </a:solidFill>
                  </a:tcPr>
                </a:tc>
                <a:tc>
                  <a:txBody>
                    <a:bodyPr/>
                    <a:lstStyle/>
                    <a:p>
                      <a:r>
                        <a:rPr sz="1800" b="1">
                          <a:solidFill>
                            <a:srgbClr val="126A71"/>
                          </a:solidFill>
                          <a:latin typeface="Helvetica Neue"/>
                          <a:ea typeface="Helvetica Neue"/>
                          <a:cs typeface="Helvetica Neue"/>
                        </a:rPr>
                        <a:t>Latest material</a:t>
                      </a:r>
                    </a:p>
                  </a:txBody>
                  <a:tcPr marL="95250" marR="95250" marT="123825" marB="95250">
                    <a:solidFill>
                      <a:srgbClr val="FCFCFA"/>
                    </a:solidFill>
                  </a:tcPr>
                </a:tc>
                <a:tc>
                  <a:txBody>
                    <a:bodyPr/>
                    <a:lstStyle/>
                    <a:p>
                      <a:r>
                        <a:rPr sz="1800" b="1">
                          <a:solidFill>
                            <a:srgbClr val="126A71"/>
                          </a:solidFill>
                          <a:latin typeface="Helvetica Neue"/>
                          <a:ea typeface="Helvetica Neue"/>
                          <a:cs typeface="Helvetica Neue"/>
                        </a:rPr>
                        <a:t>Engineering status</a:t>
                      </a:r>
                    </a:p>
                  </a:txBody>
                  <a:tcPr marL="95250" marR="95250" marT="123825" marB="95250">
                    <a:solidFill>
                      <a:srgbClr val="FCFCFA"/>
                    </a:solidFill>
                  </a:tcPr>
                </a:tc>
              </a:tr>
              <a:tr h="714375">
                <a:tc>
                  <a:txBody>
                    <a:bodyPr/>
                    <a:lstStyle/>
                    <a:p>
                      <a:r>
                        <a:rPr sz="1800">
                          <a:solidFill>
                            <a:srgbClr val="172A32"/>
                          </a:solidFill>
                          <a:latin typeface="Helvetica Neue"/>
                          <a:ea typeface="Helvetica Neue"/>
                          <a:cs typeface="Helvetica Neue"/>
                        </a:rPr>
                        <a:t>Custom 35T FPGA</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M1, 41 × 41 mm, 287 parts</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Two-sheet circuit and placement. PCB unrouted.</a:t>
                      </a:r>
                    </a:p>
                  </a:txBody>
                  <a:tcPr marL="95250" marR="95250" marT="123825" marB="95250">
                    <a:solidFill>
                      <a:srgbClr val="FCFCFA"/>
                    </a:solidFill>
                  </a:tcPr>
                </a:tc>
              </a:tr>
              <a:tr h="714375">
                <a:tc>
                  <a:txBody>
                    <a:bodyPr/>
                    <a:lstStyle/>
                    <a:p>
                      <a:r>
                        <a:rPr sz="1800">
                          <a:solidFill>
                            <a:srgbClr val="172A32"/>
                          </a:solidFill>
                          <a:latin typeface="Helvetica Neue"/>
                          <a:ea typeface="Helvetica Neue"/>
                          <a:cs typeface="Helvetica Neue"/>
                        </a:rPr>
                        <a:t>Existing ASIC LDO</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Original nine-regulator board</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23 direct digital paths. Actual rails and fitted assembly need verification.</a:t>
                      </a:r>
                    </a:p>
                  </a:txBody>
                  <a:tcPr marL="95250" marR="95250" marT="123825" marB="95250">
                    <a:solidFill>
                      <a:srgbClr val="FCFCFA"/>
                    </a:solidFill>
                  </a:tcPr>
                </a:tc>
              </a:tr>
              <a:tr h="714375">
                <a:tc>
                  <a:txBody>
                    <a:bodyPr/>
                    <a:lstStyle/>
                    <a:p>
                      <a:r>
                        <a:rPr sz="1800">
                          <a:solidFill>
                            <a:srgbClr val="172A32"/>
                          </a:solidFill>
                          <a:latin typeface="Helvetica Neue"/>
                          <a:ea typeface="Helvetica Neue"/>
                          <a:cs typeface="Helvetica Neue"/>
                        </a:rPr>
                        <a:t>Direct XEM8305 carrier</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New Board_Howard Desktop package</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Received draft: 59 DRC findings, 20 assigned opens.</a:t>
                      </a:r>
                    </a:p>
                  </a:txBody>
                  <a:tcPr marL="95250" marR="95250" marT="123825" marB="95250">
                    <a:solidFill>
                      <a:srgbClr val="FCFCFA"/>
                    </a:solidFill>
                  </a:tcPr>
                </a:tc>
              </a:tr>
              <a:tr h="714375">
                <a:tc>
                  <a:txBody>
                    <a:bodyPr/>
                    <a:lstStyle/>
                    <a:p>
                      <a:r>
                        <a:rPr sz="1800">
                          <a:solidFill>
                            <a:srgbClr val="172A32"/>
                          </a:solidFill>
                          <a:latin typeface="Helvetica Neue"/>
                          <a:ea typeface="Helvetica Neue"/>
                          <a:cs typeface="Helvetica Neue"/>
                        </a:rPr>
                        <a:t>Earlier references</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R39 main PCB and carrier Step 8</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Preserved separately for comparison.</a:t>
                      </a:r>
                    </a:p>
                  </a:txBody>
                  <a:tcPr marL="95250" marR="95250" marT="123825" marB="95250">
                    <a:solidFill>
                      <a:srgbClr val="FCFCFA"/>
                    </a:solidFill>
                  </a:tcPr>
                </a:tc>
              </a:tr>
            </a:tbl>
          </a:graphicData>
        </a:graphic>
      </p:graphicFrame>
      <p:sp>
        <p:nvSpPr>
          <p:cNvPr id="3" name="">
            <a:extLst xmlns:a="http://schemas.openxmlformats.org/drawingml/2006/main">
              <a:ext uri="{FF2B5EF4-FFF2-40B4-BE49-F238E27FC236}">
                <a16:creationId xmlns:a16="http://schemas.microsoft.com/office/drawing/2014/main" id="{2B84771D-1572-4C07-9184-E1D3E5EAD3FA}"/>
              </a:ext>
            </a:extLst>
          </p:cNvPr>
          <p:cNvSpPr>
            <a:spLocks xmlns:a="http://schemas.openxmlformats.org/drawingml/2006/main" noGrp="1"/>
          </p:cNvSpPr>
          <p:nvPr/>
        </p:nvSpPr>
        <p:spPr>
          <a:xfrm xmlns:a="http://schemas.openxmlformats.org/drawingml/2006/main">
            <a:off x="11334750" y="6619875"/>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4C6068"/>
                </a:solidFill>
                <a:latin typeface="Helvetica Neue"/>
                <a:ea typeface="Helvetica Neue"/>
                <a:cs typeface="Helvetica Neue"/>
              </a:defRPr>
            </a:defPPr>
          </a:lstStyle>
          <a:p xmlns:a="http://schemas.openxmlformats.org/drawingml/2006/main">
            <a:pPr>
              <a:defRPr sz="900" b="0">
                <a:solidFill>
                  <a:srgbClr val="4C6068"/>
                </a:solidFill>
                <a:latin typeface="Helvetica Neue"/>
                <a:ea typeface="Helvetica Neue"/>
                <a:cs typeface="Helvetica Neue"/>
              </a:defRPr>
            </a:pPr>
            <a:r>
              <a:rPr sz="900" b="0">
                <a:solidFill>
                  <a:srgbClr val="4C6068"/>
                </a:solidFill>
                <a:latin typeface="Helvetica Neue"/>
                <a:ea typeface="Helvetica Neue"/>
                <a:cs typeface="Helvetica Neue"/>
              </a:rPr>
              <a:t>02 / 13</a:t>
            </a:r>
          </a:p>
        </p:txBody>
      </p:sp>
    </p:spTree>
    <p:extLst>
      <p:ext uri="{BB962C8B-B14F-4D97-AF65-F5344CB8AC3E}">
        <p14:creationId xmlns:p14="http://schemas.microsoft.com/office/powerpoint/2010/main" val="1493164124"/>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F084758-6562-4C76-AA98-57D317B64CAD}"/>
              </a:ext>
            </a:extLst>
          </p:cNvPr>
          <p:cNvSpPr>
            <a:spLocks xmlns:a="http://schemas.openxmlformats.org/drawingml/2006/main" noGrp="1"/>
          </p:cNvSpPr>
          <p:nvPr/>
        </p:nvSpPr>
        <p:spPr>
          <a:xfrm xmlns:a="http://schemas.openxmlformats.org/drawingml/2006/main">
            <a:off x="609600" y="457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2A32"/>
                </a:solidFill>
                <a:latin typeface="Helvetica Neue"/>
                <a:ea typeface="Helvetica Neue"/>
                <a:cs typeface="Helvetica Neue"/>
              </a:defRPr>
            </a:defPPr>
          </a:lstStyle>
          <a:p xmlns:a="http://schemas.openxmlformats.org/drawingml/2006/main">
            <a:pPr>
              <a:defRPr sz="3225" b="1">
                <a:solidFill>
                  <a:srgbClr val="172A32"/>
                </a:solidFill>
                <a:latin typeface="Helvetica Neue"/>
                <a:ea typeface="Helvetica Neue"/>
                <a:cs typeface="Helvetica Neue"/>
              </a:defRPr>
            </a:pPr>
            <a:r>
              <a:rPr sz="3225" b="1">
                <a:solidFill>
                  <a:srgbClr val="172A32"/>
                </a:solidFill>
                <a:latin typeface="Helvetica Neue"/>
                <a:ea typeface="Helvetica Neue"/>
                <a:cs typeface="Helvetica Neue"/>
              </a:rPr>
              <a:t>Zitong’s FPGA component list</a:t>
            </a:r>
          </a:p>
        </p:txBody>
      </p:sp>
      <p:graphicFrame>
        <p:nvGraphicFramePr>
          <p:cNvPr id="2" name="">
            <a:extLst xmlns:a="http://schemas.openxmlformats.org/drawingml/2006/main">
              <a:ext uri="{FF2B5EF4-FFF2-40B4-BE49-F238E27FC236}">
                <a16:creationId xmlns:a16="http://schemas.microsoft.com/office/drawing/2014/main" id="{8D81C199-C2F2-43A8-B3E2-9C4771466136}"/>
              </a:ext>
            </a:extLst>
          </p:cNvPr>
          <p:cNvGraphicFramePr/>
          <p:nvPr/>
        </p:nvGraphicFramePr>
        <p:xfrm>
          <a:off xmlns:a="http://schemas.openxmlformats.org/drawingml/2006/main" x="609600" y="1476375"/>
          <a:ext xmlns:a="http://schemas.openxmlformats.org/drawingml/2006/main" cx="10972800" cy="3810000"/>
        </p:xfrm>
        <a:graphic xmlns:a="http://schemas.openxmlformats.org/drawingml/2006/main">
          <a:graphicData uri="http://schemas.openxmlformats.org/drawingml/2006/table">
            <a:tbl>
              <a:tblPr/>
              <a:tblGrid>
                <a:gridCol w="2400300"/>
                <a:gridCol w="4381500"/>
                <a:gridCol w="4191000"/>
              </a:tblGrid>
              <a:tr h="635000">
                <a:tc>
                  <a:txBody>
                    <a:bodyPr/>
                    <a:lstStyle/>
                    <a:p>
                      <a:r>
                        <a:rPr sz="1800" b="1">
                          <a:solidFill>
                            <a:srgbClr val="126A71"/>
                          </a:solidFill>
                          <a:latin typeface="Helvetica Neue"/>
                          <a:ea typeface="Helvetica Neue"/>
                          <a:cs typeface="Helvetica Neue"/>
                        </a:rPr>
                        <a:t>Function</a:t>
                      </a:r>
                    </a:p>
                  </a:txBody>
                  <a:tcPr marL="95250" marR="95250" marT="123825" marB="95250">
                    <a:solidFill>
                      <a:srgbClr val="FCFCFA"/>
                    </a:solidFill>
                  </a:tcPr>
                </a:tc>
                <a:tc>
                  <a:txBody>
                    <a:bodyPr/>
                    <a:lstStyle/>
                    <a:p>
                      <a:r>
                        <a:rPr sz="1800" b="1">
                          <a:solidFill>
                            <a:srgbClr val="126A71"/>
                          </a:solidFill>
                          <a:latin typeface="Helvetica Neue"/>
                          <a:ea typeface="Helvetica Neue"/>
                          <a:cs typeface="Helvetica Neue"/>
                        </a:rPr>
                        <a:t>Exact part</a:t>
                      </a:r>
                    </a:p>
                  </a:txBody>
                  <a:tcPr marL="95250" marR="95250" marT="123825" marB="95250">
                    <a:solidFill>
                      <a:srgbClr val="FCFCFA"/>
                    </a:solidFill>
                  </a:tcPr>
                </a:tc>
                <a:tc>
                  <a:txBody>
                    <a:bodyPr/>
                    <a:lstStyle/>
                    <a:p>
                      <a:r>
                        <a:rPr sz="1800" b="1">
                          <a:solidFill>
                            <a:srgbClr val="126A71"/>
                          </a:solidFill>
                          <a:latin typeface="Helvetica Neue"/>
                          <a:ea typeface="Helvetica Neue"/>
                          <a:cs typeface="Helvetica Neue"/>
                        </a:rPr>
                        <a:t>M1 choice</a:t>
                      </a:r>
                    </a:p>
                  </a:txBody>
                  <a:tcPr marL="95250" marR="95250" marT="123825" marB="95250">
                    <a:solidFill>
                      <a:srgbClr val="FCFCFA"/>
                    </a:solidFill>
                  </a:tcPr>
                </a:tc>
              </a:tr>
              <a:tr h="635000">
                <a:tc>
                  <a:txBody>
                    <a:bodyPr/>
                    <a:lstStyle/>
                    <a:p>
                      <a:r>
                        <a:rPr sz="1800">
                          <a:solidFill>
                            <a:srgbClr val="172A32"/>
                          </a:solidFill>
                          <a:latin typeface="Helvetica Neue"/>
                          <a:ea typeface="Helvetica Neue"/>
                          <a:cs typeface="Helvetica Neue"/>
                        </a:rPr>
                        <a:t>FPGA</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XC7A35T-2CSG325I</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Keep</a:t>
                      </a:r>
                    </a:p>
                  </a:txBody>
                  <a:tcPr marL="95250" marR="95250" marT="123825" marB="95250">
                    <a:solidFill>
                      <a:srgbClr val="FCFCFA"/>
                    </a:solidFill>
                  </a:tcPr>
                </a:tc>
              </a:tr>
              <a:tr h="635000">
                <a:tc>
                  <a:txBody>
                    <a:bodyPr/>
                    <a:lstStyle/>
                    <a:p>
                      <a:r>
                        <a:rPr sz="1800">
                          <a:solidFill>
                            <a:srgbClr val="172A32"/>
                          </a:solidFill>
                          <a:latin typeface="Helvetica Neue"/>
                          <a:ea typeface="Helvetica Neue"/>
                          <a:cs typeface="Helvetica Neue"/>
                        </a:rPr>
                        <a:t>125 MHz LVDS clock</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AX3DCF1-125.0000T3</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Adopt on 1.8 V</a:t>
                      </a:r>
                    </a:p>
                  </a:txBody>
                  <a:tcPr marL="95250" marR="95250" marT="123825" marB="95250">
                    <a:solidFill>
                      <a:srgbClr val="FCFCFA"/>
                    </a:solidFill>
                  </a:tcPr>
                </a:tc>
              </a:tr>
              <a:tr h="635000">
                <a:tc>
                  <a:txBody>
                    <a:bodyPr/>
                    <a:lstStyle/>
                    <a:p>
                      <a:r>
                        <a:rPr sz="1800">
                          <a:solidFill>
                            <a:srgbClr val="172A32"/>
                          </a:solidFill>
                          <a:latin typeface="Helvetica Neue"/>
                          <a:ea typeface="Helvetica Neue"/>
                          <a:cs typeface="Helvetica Neue"/>
                        </a:rPr>
                        <a:t>Clock splitter</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LMK1D2102LRGTR</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Omit provisionally</a:t>
                      </a:r>
                    </a:p>
                  </a:txBody>
                  <a:tcPr marL="95250" marR="95250" marT="123825" marB="95250">
                    <a:solidFill>
                      <a:srgbClr val="FCFCFA"/>
                    </a:solidFill>
                  </a:tcPr>
                </a:tc>
              </a:tr>
              <a:tr h="635000">
                <a:tc>
                  <a:txBody>
                    <a:bodyPr/>
                    <a:lstStyle/>
                    <a:p>
                      <a:r>
                        <a:rPr sz="1800">
                          <a:solidFill>
                            <a:srgbClr val="172A32"/>
                          </a:solidFill>
                          <a:latin typeface="Helvetica Neue"/>
                          <a:ea typeface="Helvetica Neue"/>
                          <a:cs typeface="Helvetica Neue"/>
                        </a:rPr>
                        <a:t>128 Mbit boot flash</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IS25WP128F-JKLE</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Adopt on 1.8 V, SPI x1</a:t>
                      </a:r>
                    </a:p>
                  </a:txBody>
                  <a:tcPr marL="95250" marR="95250" marT="123825" marB="95250">
                    <a:solidFill>
                      <a:srgbClr val="FCFCFA"/>
                    </a:solidFill>
                  </a:tcPr>
                </a:tc>
              </a:tr>
              <a:tr h="635000">
                <a:tc>
                  <a:txBody>
                    <a:bodyPr/>
                    <a:lstStyle/>
                    <a:p>
                      <a:r>
                        <a:rPr sz="1800">
                          <a:solidFill>
                            <a:srgbClr val="172A32"/>
                          </a:solidFill>
                          <a:latin typeface="Helvetica Neue"/>
                          <a:ea typeface="Helvetica Neue"/>
                          <a:cs typeface="Helvetica Neue"/>
                        </a:rPr>
                        <a:t>Flash translator</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NVT4858HKZ</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Adopt, boot validation open</a:t>
                      </a:r>
                    </a:p>
                  </a:txBody>
                  <a:tcPr marL="95250" marR="95250" marT="123825" marB="95250">
                    <a:solidFill>
                      <a:srgbClr val="FCFCFA"/>
                    </a:solidFill>
                  </a:tcPr>
                </a:tc>
              </a:tr>
            </a:tbl>
          </a:graphicData>
        </a:graphic>
      </p:graphicFrame>
      <p:sp>
        <p:nvSpPr>
          <p:cNvPr id="3" name="">
            <a:extLst xmlns:a="http://schemas.openxmlformats.org/drawingml/2006/main">
              <a:ext uri="{FF2B5EF4-FFF2-40B4-BE49-F238E27FC236}">
                <a16:creationId xmlns:a16="http://schemas.microsoft.com/office/drawing/2014/main" id="{AF838C69-330F-4D45-962B-2EC244F45CA2}"/>
              </a:ext>
            </a:extLst>
          </p:cNvPr>
          <p:cNvSpPr>
            <a:spLocks xmlns:a="http://schemas.openxmlformats.org/drawingml/2006/main" noGrp="1"/>
          </p:cNvSpPr>
          <p:nvPr/>
        </p:nvSpPr>
        <p:spPr>
          <a:xfrm xmlns:a="http://schemas.openxmlformats.org/drawingml/2006/main">
            <a:off x="609600" y="5934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C6068"/>
                </a:solidFill>
                <a:latin typeface="Helvetica Neue"/>
                <a:ea typeface="Helvetica Neue"/>
                <a:cs typeface="Helvetica Neue"/>
              </a:defRPr>
            </a:defPPr>
          </a:lstStyle>
          <a:p xmlns:a="http://schemas.openxmlformats.org/drawingml/2006/main">
            <a:pPr>
              <a:defRPr sz="1500" b="0">
                <a:solidFill>
                  <a:srgbClr val="4C6068"/>
                </a:solidFill>
                <a:latin typeface="Helvetica Neue"/>
                <a:ea typeface="Helvetica Neue"/>
                <a:cs typeface="Helvetica Neue"/>
              </a:defRPr>
            </a:pPr>
            <a:r>
              <a:rPr sz="1500" b="0">
                <a:solidFill>
                  <a:srgbClr val="4C6068"/>
                </a:solidFill>
                <a:latin typeface="Helvetica Neue"/>
                <a:ea typeface="Helvetica Neue"/>
                <a:cs typeface="Helvetica Neue"/>
              </a:rPr>
              <a:t>Zitong reports 150 user I/O and four GTP lanes. The stated 122-unit stock is a dated report, not a current purchasing check.</a:t>
            </a:r>
          </a:p>
        </p:txBody>
      </p:sp>
      <p:sp>
        <p:nvSpPr>
          <p:cNvPr id="4" name="">
            <a:extLst xmlns:a="http://schemas.openxmlformats.org/drawingml/2006/main">
              <a:ext uri="{FF2B5EF4-FFF2-40B4-BE49-F238E27FC236}">
                <a16:creationId xmlns:a16="http://schemas.microsoft.com/office/drawing/2014/main" id="{506338D3-4175-4B6B-A005-D4BE3CA56A47}"/>
              </a:ext>
            </a:extLst>
          </p:cNvPr>
          <p:cNvSpPr>
            <a:spLocks xmlns:a="http://schemas.openxmlformats.org/drawingml/2006/main" noGrp="1"/>
          </p:cNvSpPr>
          <p:nvPr/>
        </p:nvSpPr>
        <p:spPr>
          <a:xfrm xmlns:a="http://schemas.openxmlformats.org/drawingml/2006/main">
            <a:off x="11334750" y="6619875"/>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4C6068"/>
                </a:solidFill>
                <a:latin typeface="Helvetica Neue"/>
                <a:ea typeface="Helvetica Neue"/>
                <a:cs typeface="Helvetica Neue"/>
              </a:defRPr>
            </a:defPPr>
          </a:lstStyle>
          <a:p xmlns:a="http://schemas.openxmlformats.org/drawingml/2006/main">
            <a:pPr>
              <a:defRPr sz="900" b="0">
                <a:solidFill>
                  <a:srgbClr val="4C6068"/>
                </a:solidFill>
                <a:latin typeface="Helvetica Neue"/>
                <a:ea typeface="Helvetica Neue"/>
                <a:cs typeface="Helvetica Neue"/>
              </a:defRPr>
            </a:pPr>
            <a:r>
              <a:rPr sz="900" b="0">
                <a:solidFill>
                  <a:srgbClr val="4C6068"/>
                </a:solidFill>
                <a:latin typeface="Helvetica Neue"/>
                <a:ea typeface="Helvetica Neue"/>
                <a:cs typeface="Helvetica Neue"/>
              </a:rPr>
              <a:t>03 / 13</a:t>
            </a:r>
          </a:p>
        </p:txBody>
      </p:sp>
    </p:spTree>
    <p:extLst>
      <p:ext uri="{BB962C8B-B14F-4D97-AF65-F5344CB8AC3E}">
        <p14:creationId xmlns:p14="http://schemas.microsoft.com/office/powerpoint/2010/main" val="2078928528"/>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FF6298F-3515-4AF7-9266-2E7DE6F97240}"/>
              </a:ext>
            </a:extLst>
          </p:cNvPr>
          <p:cNvSpPr>
            <a:spLocks xmlns:a="http://schemas.openxmlformats.org/drawingml/2006/main" noGrp="1"/>
          </p:cNvSpPr>
          <p:nvPr/>
        </p:nvSpPr>
        <p:spPr>
          <a:xfrm xmlns:a="http://schemas.openxmlformats.org/drawingml/2006/main">
            <a:off x="609600" y="457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2A32"/>
                </a:solidFill>
                <a:latin typeface="Helvetica Neue"/>
                <a:ea typeface="Helvetica Neue"/>
                <a:cs typeface="Helvetica Neue"/>
              </a:defRPr>
            </a:defPPr>
          </a:lstStyle>
          <a:p xmlns:a="http://schemas.openxmlformats.org/drawingml/2006/main">
            <a:pPr>
              <a:defRPr sz="3225" b="1">
                <a:solidFill>
                  <a:srgbClr val="172A32"/>
                </a:solidFill>
                <a:latin typeface="Helvetica Neue"/>
                <a:ea typeface="Helvetica Neue"/>
                <a:cs typeface="Helvetica Neue"/>
              </a:defRPr>
            </a:pPr>
            <a:r>
              <a:rPr sz="3225" b="1">
                <a:solidFill>
                  <a:srgbClr val="172A32"/>
                </a:solidFill>
                <a:latin typeface="Helvetica Neue"/>
                <a:ea typeface="Helvetica Neue"/>
                <a:cs typeface="Helvetica Neue"/>
              </a:rPr>
              <a:t>Clock and boot decisions</a:t>
            </a:r>
          </a:p>
        </p:txBody>
      </p:sp>
      <p:sp>
        <p:nvSpPr>
          <p:cNvPr id="2" name="">
            <a:extLst xmlns:a="http://schemas.openxmlformats.org/drawingml/2006/main">
              <a:ext uri="{FF2B5EF4-FFF2-40B4-BE49-F238E27FC236}">
                <a16:creationId xmlns:a16="http://schemas.microsoft.com/office/drawing/2014/main" id="{028CFC1C-29A5-4561-AB3C-9068DB849B4B}"/>
              </a:ext>
            </a:extLst>
          </p:cNvPr>
          <p:cNvSpPr>
            <a:spLocks xmlns:a="http://schemas.openxmlformats.org/drawingml/2006/main" noGrp="1"/>
          </p:cNvSpPr>
          <p:nvPr/>
        </p:nvSpPr>
        <p:spPr>
          <a:xfrm xmlns:a="http://schemas.openxmlformats.org/drawingml/2006/main">
            <a:off x="609600" y="148590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2A32"/>
                </a:solidFill>
                <a:latin typeface="Helvetica Neue"/>
                <a:ea typeface="Helvetica Neue"/>
                <a:cs typeface="Helvetica Neue"/>
              </a:defRPr>
            </a:defPPr>
          </a:lstStyle>
          <a:p xmlns:a="http://schemas.openxmlformats.org/drawingml/2006/main">
            <a:pPr>
              <a:defRPr sz="2025" b="0">
                <a:solidFill>
                  <a:srgbClr val="172A32"/>
                </a:solidFill>
                <a:latin typeface="Helvetica Neue"/>
                <a:ea typeface="Helvetica Neue"/>
                <a:cs typeface="Helvetica Neue"/>
              </a:defRPr>
            </a:pPr>
            <a:r>
              <a:rPr sz="2025" b="0">
                <a:solidFill>
                  <a:srgbClr val="172A32"/>
                </a:solidFill>
                <a:latin typeface="Helvetica Neue"/>
                <a:ea typeface="Helvetica Neue"/>
                <a:cs typeface="Helvetica Neue"/>
              </a:rPr>
              <a:t>The selected oscillator is 125 MHz LVDS at 1.8 V. M1 keeps the AC-coupling pair and uses a supplier-derived land pattern.</a:t>
            </a:r>
          </a:p>
        </p:txBody>
      </p:sp>
      <p:sp>
        <p:nvSpPr>
          <p:cNvPr id="3" name="">
            <a:extLst xmlns:a="http://schemas.openxmlformats.org/drawingml/2006/main">
              <a:ext uri="{FF2B5EF4-FFF2-40B4-BE49-F238E27FC236}">
                <a16:creationId xmlns:a16="http://schemas.microsoft.com/office/drawing/2014/main" id="{1B633ADC-8705-420C-8D59-71884693042E}"/>
              </a:ext>
            </a:extLst>
          </p:cNvPr>
          <p:cNvSpPr>
            <a:spLocks xmlns:a="http://schemas.openxmlformats.org/drawingml/2006/main" noGrp="1"/>
          </p:cNvSpPr>
          <p:nvPr/>
        </p:nvSpPr>
        <p:spPr>
          <a:xfrm xmlns:a="http://schemas.openxmlformats.org/drawingml/2006/main">
            <a:off x="609600" y="248602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2A32"/>
                </a:solidFill>
                <a:latin typeface="Helvetica Neue"/>
                <a:ea typeface="Helvetica Neue"/>
                <a:cs typeface="Helvetica Neue"/>
              </a:defRPr>
            </a:defPPr>
          </a:lstStyle>
          <a:p xmlns:a="http://schemas.openxmlformats.org/drawingml/2006/main">
            <a:pPr>
              <a:defRPr sz="2025" b="0">
                <a:solidFill>
                  <a:srgbClr val="172A32"/>
                </a:solidFill>
                <a:latin typeface="Helvetica Neue"/>
                <a:ea typeface="Helvetica Neue"/>
                <a:cs typeface="Helvetica Neue"/>
              </a:defRPr>
            </a:pPr>
            <a:r>
              <a:rPr sz="2025" b="0">
                <a:solidFill>
                  <a:srgbClr val="172A32"/>
                </a:solidFill>
                <a:latin typeface="Helvetica Neue"/>
                <a:ea typeface="Helvetica Neue"/>
                <a:cs typeface="Helvetica Neue"/>
              </a:rPr>
              <a:t>M1 omits the LMK splitter while the GTP ODIV2 fabric-clock path awaits Vivado verification.</a:t>
            </a:r>
          </a:p>
        </p:txBody>
      </p:sp>
      <p:sp>
        <p:nvSpPr>
          <p:cNvPr id="4" name="">
            <a:extLst xmlns:a="http://schemas.openxmlformats.org/drawingml/2006/main">
              <a:ext uri="{FF2B5EF4-FFF2-40B4-BE49-F238E27FC236}">
                <a16:creationId xmlns:a16="http://schemas.microsoft.com/office/drawing/2014/main" id="{3BD3CD72-9CD9-45F1-980F-6EE00B68145A}"/>
              </a:ext>
            </a:extLst>
          </p:cNvPr>
          <p:cNvSpPr>
            <a:spLocks xmlns:a="http://schemas.openxmlformats.org/drawingml/2006/main" noGrp="1"/>
          </p:cNvSpPr>
          <p:nvPr/>
        </p:nvSpPr>
        <p:spPr>
          <a:xfrm xmlns:a="http://schemas.openxmlformats.org/drawingml/2006/main">
            <a:off x="609600" y="348615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2A32"/>
                </a:solidFill>
                <a:latin typeface="Helvetica Neue"/>
                <a:ea typeface="Helvetica Neue"/>
                <a:cs typeface="Helvetica Neue"/>
              </a:defRPr>
            </a:defPPr>
          </a:lstStyle>
          <a:p xmlns:a="http://schemas.openxmlformats.org/drawingml/2006/main">
            <a:pPr>
              <a:defRPr sz="2025" b="0">
                <a:solidFill>
                  <a:srgbClr val="172A32"/>
                </a:solidFill>
                <a:latin typeface="Helvetica Neue"/>
                <a:ea typeface="Helvetica Neue"/>
                <a:cs typeface="Helvetica Neue"/>
              </a:defRPr>
            </a:pPr>
            <a:r>
              <a:rPr sz="2025" b="0">
                <a:solidFill>
                  <a:srgbClr val="172A32"/>
                </a:solidFill>
                <a:latin typeface="Helvetica Neue"/>
                <a:ea typeface="Helvetica Neue"/>
                <a:cs typeface="Helvetica Neue"/>
              </a:rPr>
              <a:t>The original slide asks for better than ±20 ppm but lists a ±25 ppm oscillator. That requirement still needs reconciliation.</a:t>
            </a:r>
          </a:p>
        </p:txBody>
      </p:sp>
      <p:sp>
        <p:nvSpPr>
          <p:cNvPr id="5" name="">
            <a:extLst xmlns:a="http://schemas.openxmlformats.org/drawingml/2006/main">
              <a:ext uri="{FF2B5EF4-FFF2-40B4-BE49-F238E27FC236}">
                <a16:creationId xmlns:a16="http://schemas.microsoft.com/office/drawing/2014/main" id="{5C8675AE-F038-4F5C-96BE-CD71A4244D34}"/>
              </a:ext>
            </a:extLst>
          </p:cNvPr>
          <p:cNvSpPr>
            <a:spLocks xmlns:a="http://schemas.openxmlformats.org/drawingml/2006/main" noGrp="1"/>
          </p:cNvSpPr>
          <p:nvPr/>
        </p:nvSpPr>
        <p:spPr>
          <a:xfrm xmlns:a="http://schemas.openxmlformats.org/drawingml/2006/main">
            <a:off x="609600" y="448627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2A32"/>
                </a:solidFill>
                <a:latin typeface="Helvetica Neue"/>
                <a:ea typeface="Helvetica Neue"/>
                <a:cs typeface="Helvetica Neue"/>
              </a:defRPr>
            </a:defPPr>
          </a:lstStyle>
          <a:p xmlns:a="http://schemas.openxmlformats.org/drawingml/2006/main">
            <a:pPr>
              <a:defRPr sz="2025" b="0">
                <a:solidFill>
                  <a:srgbClr val="172A32"/>
                </a:solidFill>
                <a:latin typeface="Helvetica Neue"/>
                <a:ea typeface="Helvetica Neue"/>
                <a:cs typeface="Helvetica Neue"/>
              </a:defRPr>
            </a:pPr>
            <a:r>
              <a:rPr sz="2025" b="0">
                <a:solidFill>
                  <a:srgbClr val="172A32"/>
                </a:solidFill>
                <a:latin typeface="Helvetica Neue"/>
                <a:ea typeface="Helvetica Neue"/>
                <a:cs typeface="Helvetica Neue"/>
              </a:rPr>
              <a:t>The 1.8 V flash crosses the 1.5 V FPGA configuration interface through NVT4858. SPI x1 boot and brownout behavior need testing.</a:t>
            </a:r>
          </a:p>
        </p:txBody>
      </p:sp>
      <p:sp>
        <p:nvSpPr>
          <p:cNvPr id="6" name="">
            <a:extLst xmlns:a="http://schemas.openxmlformats.org/drawingml/2006/main">
              <a:ext uri="{FF2B5EF4-FFF2-40B4-BE49-F238E27FC236}">
                <a16:creationId xmlns:a16="http://schemas.microsoft.com/office/drawing/2014/main" id="{B949C0FA-B043-4556-B1C5-3003DEC545DF}"/>
              </a:ext>
            </a:extLst>
          </p:cNvPr>
          <p:cNvSpPr>
            <a:spLocks xmlns:a="http://schemas.openxmlformats.org/drawingml/2006/main" noGrp="1"/>
          </p:cNvSpPr>
          <p:nvPr/>
        </p:nvSpPr>
        <p:spPr>
          <a:xfrm xmlns:a="http://schemas.openxmlformats.org/drawingml/2006/main">
            <a:off x="11334750" y="6619875"/>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4C6068"/>
                </a:solidFill>
                <a:latin typeface="Helvetica Neue"/>
                <a:ea typeface="Helvetica Neue"/>
                <a:cs typeface="Helvetica Neue"/>
              </a:defRPr>
            </a:defPPr>
          </a:lstStyle>
          <a:p xmlns:a="http://schemas.openxmlformats.org/drawingml/2006/main">
            <a:pPr>
              <a:defRPr sz="900" b="0">
                <a:solidFill>
                  <a:srgbClr val="4C6068"/>
                </a:solidFill>
                <a:latin typeface="Helvetica Neue"/>
                <a:ea typeface="Helvetica Neue"/>
                <a:cs typeface="Helvetica Neue"/>
              </a:defRPr>
            </a:pPr>
            <a:r>
              <a:rPr sz="900" b="0">
                <a:solidFill>
                  <a:srgbClr val="4C6068"/>
                </a:solidFill>
                <a:latin typeface="Helvetica Neue"/>
                <a:ea typeface="Helvetica Neue"/>
                <a:cs typeface="Helvetica Neue"/>
              </a:rPr>
              <a:t>04 / 13</a:t>
            </a:r>
          </a:p>
        </p:txBody>
      </p:sp>
    </p:spTree>
    <p:extLst>
      <p:ext uri="{BB962C8B-B14F-4D97-AF65-F5344CB8AC3E}">
        <p14:creationId xmlns:p14="http://schemas.microsoft.com/office/powerpoint/2010/main" val="2033793971"/>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6538476-5336-44BD-9FEF-799586A79A89}"/>
              </a:ext>
            </a:extLst>
          </p:cNvPr>
          <p:cNvSpPr>
            <a:spLocks xmlns:a="http://schemas.openxmlformats.org/drawingml/2006/main" noGrp="1"/>
          </p:cNvSpPr>
          <p:nvPr/>
        </p:nvSpPr>
        <p:spPr>
          <a:xfrm xmlns:a="http://schemas.openxmlformats.org/drawingml/2006/main">
            <a:off x="609600" y="457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2A32"/>
                </a:solidFill>
                <a:latin typeface="Helvetica Neue"/>
                <a:ea typeface="Helvetica Neue"/>
                <a:cs typeface="Helvetica Neue"/>
              </a:defRPr>
            </a:defPPr>
          </a:lstStyle>
          <a:p xmlns:a="http://schemas.openxmlformats.org/drawingml/2006/main">
            <a:pPr>
              <a:defRPr sz="3225" b="1">
                <a:solidFill>
                  <a:srgbClr val="172A32"/>
                </a:solidFill>
                <a:latin typeface="Helvetica Neue"/>
                <a:ea typeface="Helvetica Neue"/>
                <a:cs typeface="Helvetica Neue"/>
              </a:defRPr>
            </a:pPr>
            <a:r>
              <a:rPr sz="3225" b="1">
                <a:solidFill>
                  <a:srgbClr val="172A32"/>
                </a:solidFill>
                <a:latin typeface="Helvetica Neue"/>
                <a:ea typeface="Helvetica Neue"/>
                <a:cs typeface="Helvetica Neue"/>
              </a:rPr>
              <a:t>M1 FPGA PCB in KiCad</a:t>
            </a:r>
          </a:p>
        </p:txBody>
      </p:sp>
      <p:pic>
        <p:nvPicPr>
          <p:cNvPr id="2" name="">
            <a:extLst xmlns:a="http://schemas.openxmlformats.org/drawingml/2006/main">
              <a:ext uri="{FF2B5EF4-FFF2-40B4-BE49-F238E27FC236}">
                <a16:creationId xmlns:a16="http://schemas.microsoft.com/office/drawing/2014/main" id="{925D2BF6-6321-402C-93FE-D5102224DED6}"/>
              </a:ext>
            </a:extLst>
          </p:cNvPr>
          <p:cNvPicPr>
            <a:picLocks xmlns:a="http://schemas.openxmlformats.org/drawingml/2006/main" noChangeAspect="1"/>
          </p:cNvPicPr>
          <p:nvPr/>
        </p:nvPicPr>
        <p:blipFill>
          <a:blip xmlns:r="http://schemas.openxmlformats.org/officeDocument/2006/relationships" xmlns:a="http://schemas.openxmlformats.org/drawingml/2006/main" r:embed="R8e6b40efe14146c5"/>
          <a:stretch xmlns:a="http://schemas.openxmlformats.org/drawingml/2006/main"/>
        </p:blipFill>
        <p:spPr>
          <a:xfrm xmlns:a="http://schemas.openxmlformats.org/drawingml/2006/main">
            <a:off x="1419225" y="1381125"/>
            <a:ext cx="3733800" cy="37338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8D88617-4609-45BB-AAC9-A9B3750E893D}"/>
              </a:ext>
            </a:extLst>
          </p:cNvPr>
          <p:cNvSpPr>
            <a:spLocks xmlns:a="http://schemas.openxmlformats.org/drawingml/2006/main" noGrp="1"/>
          </p:cNvSpPr>
          <p:nvPr/>
        </p:nvSpPr>
        <p:spPr>
          <a:xfrm xmlns:a="http://schemas.openxmlformats.org/drawingml/2006/main">
            <a:off x="609600" y="5229225"/>
            <a:ext cx="535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4C6068"/>
                </a:solidFill>
                <a:latin typeface="Helvetica Neue"/>
                <a:ea typeface="Helvetica Neue"/>
                <a:cs typeface="Helvetica Neue"/>
              </a:defRPr>
            </a:defPPr>
          </a:lstStyle>
          <a:p xmlns:a="http://schemas.openxmlformats.org/drawingml/2006/main">
            <a:pPr>
              <a:defRPr sz="1575" b="0">
                <a:solidFill>
                  <a:srgbClr val="4C6068"/>
                </a:solidFill>
                <a:latin typeface="Helvetica Neue"/>
                <a:ea typeface="Helvetica Neue"/>
                <a:cs typeface="Helvetica Neue"/>
              </a:defRPr>
            </a:pPr>
            <a:r>
              <a:rPr sz="1575" b="0">
                <a:solidFill>
                  <a:srgbClr val="4C6068"/>
                </a:solidFill>
                <a:latin typeface="Helvetica Neue"/>
                <a:ea typeface="Helvetica Neue"/>
                <a:cs typeface="Helvetica Neue"/>
              </a:rPr>
              <a:t>Top copper, pads, silkscreen and outline</a:t>
            </a:r>
          </a:p>
        </p:txBody>
      </p:sp>
      <p:pic>
        <p:nvPicPr>
          <p:cNvPr id="4" name="">
            <a:extLst xmlns:a="http://schemas.openxmlformats.org/drawingml/2006/main">
              <a:ext uri="{FF2B5EF4-FFF2-40B4-BE49-F238E27FC236}">
                <a16:creationId xmlns:a16="http://schemas.microsoft.com/office/drawing/2014/main" id="{F606B752-2B0F-44D5-9062-90972D8F022F}"/>
              </a:ext>
            </a:extLst>
          </p:cNvPr>
          <p:cNvPicPr>
            <a:picLocks xmlns:a="http://schemas.openxmlformats.org/drawingml/2006/main" noChangeAspect="1"/>
          </p:cNvPicPr>
          <p:nvPr/>
        </p:nvPicPr>
        <p:blipFill>
          <a:blip xmlns:r="http://schemas.openxmlformats.org/officeDocument/2006/relationships" xmlns:a="http://schemas.openxmlformats.org/drawingml/2006/main" r:embed="R82c4672de2b94bce"/>
          <a:stretch xmlns:a="http://schemas.openxmlformats.org/drawingml/2006/main"/>
        </p:blipFill>
        <p:spPr>
          <a:xfrm xmlns:a="http://schemas.openxmlformats.org/drawingml/2006/main">
            <a:off x="7038975" y="1381125"/>
            <a:ext cx="3733800" cy="37338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698DEA6-03C1-43A0-8BAC-C1E83CFB0D2A}"/>
              </a:ext>
            </a:extLst>
          </p:cNvPr>
          <p:cNvSpPr>
            <a:spLocks xmlns:a="http://schemas.openxmlformats.org/drawingml/2006/main" noGrp="1"/>
          </p:cNvSpPr>
          <p:nvPr/>
        </p:nvSpPr>
        <p:spPr>
          <a:xfrm xmlns:a="http://schemas.openxmlformats.org/drawingml/2006/main">
            <a:off x="6229350" y="5229225"/>
            <a:ext cx="535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4C6068"/>
                </a:solidFill>
                <a:latin typeface="Helvetica Neue"/>
                <a:ea typeface="Helvetica Neue"/>
                <a:cs typeface="Helvetica Neue"/>
              </a:defRPr>
            </a:defPPr>
          </a:lstStyle>
          <a:p xmlns:a="http://schemas.openxmlformats.org/drawingml/2006/main">
            <a:pPr>
              <a:defRPr sz="1575" b="0">
                <a:solidFill>
                  <a:srgbClr val="4C6068"/>
                </a:solidFill>
                <a:latin typeface="Helvetica Neue"/>
                <a:ea typeface="Helvetica Neue"/>
                <a:cs typeface="Helvetica Neue"/>
              </a:defRPr>
            </a:pPr>
            <a:r>
              <a:rPr sz="1575" b="0">
                <a:solidFill>
                  <a:srgbClr val="4C6068"/>
                </a:solidFill>
                <a:latin typeface="Helvetica Neue"/>
                <a:ea typeface="Helvetica Neue"/>
                <a:cs typeface="Helvetica Neue"/>
              </a:rPr>
              <a:t>Underside with four grouped floating connectors</a:t>
            </a:r>
          </a:p>
        </p:txBody>
      </p:sp>
      <p:sp>
        <p:nvSpPr>
          <p:cNvPr id="6" name="">
            <a:extLst xmlns:a="http://schemas.openxmlformats.org/drawingml/2006/main">
              <a:ext uri="{FF2B5EF4-FFF2-40B4-BE49-F238E27FC236}">
                <a16:creationId xmlns:a16="http://schemas.microsoft.com/office/drawing/2014/main" id="{9C20C9D0-4A96-4504-8DA5-6C61E8EE0AAA}"/>
              </a:ext>
            </a:extLst>
          </p:cNvPr>
          <p:cNvSpPr>
            <a:spLocks xmlns:a="http://schemas.openxmlformats.org/drawingml/2006/main" noGrp="1"/>
          </p:cNvSpPr>
          <p:nvPr/>
        </p:nvSpPr>
        <p:spPr>
          <a:xfrm xmlns:a="http://schemas.openxmlformats.org/drawingml/2006/main">
            <a:off x="609600" y="5934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C6068"/>
                </a:solidFill>
                <a:latin typeface="Helvetica Neue"/>
                <a:ea typeface="Helvetica Neue"/>
                <a:cs typeface="Helvetica Neue"/>
              </a:defRPr>
            </a:defPPr>
          </a:lstStyle>
          <a:p xmlns:a="http://schemas.openxmlformats.org/drawingml/2006/main">
            <a:pPr>
              <a:defRPr sz="1500" b="0">
                <a:solidFill>
                  <a:srgbClr val="4C6068"/>
                </a:solidFill>
                <a:latin typeface="Helvetica Neue"/>
                <a:ea typeface="Helvetica Neue"/>
                <a:cs typeface="Helvetica Neue"/>
              </a:defRPr>
            </a:pPr>
            <a:r>
              <a:rPr sz="1500" b="0">
                <a:solidFill>
                  <a:srgbClr val="4C6068"/>
                </a:solidFill>
                <a:latin typeface="Helvetica Neue"/>
                <a:ea typeface="Helvetica Neue"/>
                <a:cs typeface="Helvetica Neue"/>
              </a:rPr>
              <a:t>Measured outline 41 × 41 mm. 287 parts. Zero routed tracks, vias or planes. 1,091 PCB connections await copper.</a:t>
            </a:r>
          </a:p>
        </p:txBody>
      </p:sp>
      <p:sp>
        <p:nvSpPr>
          <p:cNvPr id="7" name="">
            <a:extLst xmlns:a="http://schemas.openxmlformats.org/drawingml/2006/main">
              <a:ext uri="{FF2B5EF4-FFF2-40B4-BE49-F238E27FC236}">
                <a16:creationId xmlns:a16="http://schemas.microsoft.com/office/drawing/2014/main" id="{08043ABA-B5E4-41DE-8761-126F75F7AF8E}"/>
              </a:ext>
            </a:extLst>
          </p:cNvPr>
          <p:cNvSpPr>
            <a:spLocks xmlns:a="http://schemas.openxmlformats.org/drawingml/2006/main" noGrp="1"/>
          </p:cNvSpPr>
          <p:nvPr/>
        </p:nvSpPr>
        <p:spPr>
          <a:xfrm xmlns:a="http://schemas.openxmlformats.org/drawingml/2006/main">
            <a:off x="11334750" y="6619875"/>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4C6068"/>
                </a:solidFill>
                <a:latin typeface="Helvetica Neue"/>
                <a:ea typeface="Helvetica Neue"/>
                <a:cs typeface="Helvetica Neue"/>
              </a:defRPr>
            </a:defPPr>
          </a:lstStyle>
          <a:p xmlns:a="http://schemas.openxmlformats.org/drawingml/2006/main">
            <a:pPr>
              <a:defRPr sz="900" b="0">
                <a:solidFill>
                  <a:srgbClr val="4C6068"/>
                </a:solidFill>
                <a:latin typeface="Helvetica Neue"/>
                <a:ea typeface="Helvetica Neue"/>
                <a:cs typeface="Helvetica Neue"/>
              </a:defRPr>
            </a:pPr>
            <a:r>
              <a:rPr sz="900" b="0">
                <a:solidFill>
                  <a:srgbClr val="4C6068"/>
                </a:solidFill>
                <a:latin typeface="Helvetica Neue"/>
                <a:ea typeface="Helvetica Neue"/>
                <a:cs typeface="Helvetica Neue"/>
              </a:rPr>
              <a:t>05 / 13</a:t>
            </a:r>
          </a:p>
        </p:txBody>
      </p:sp>
    </p:spTree>
    <p:extLst>
      <p:ext uri="{BB962C8B-B14F-4D97-AF65-F5344CB8AC3E}">
        <p14:creationId xmlns:p14="http://schemas.microsoft.com/office/powerpoint/2010/main" val="355410735"/>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940BB50-EB9A-4432-B2CC-F96C5AB596D8}"/>
              </a:ext>
            </a:extLst>
          </p:cNvPr>
          <p:cNvSpPr>
            <a:spLocks xmlns:a="http://schemas.openxmlformats.org/drawingml/2006/main" noGrp="1"/>
          </p:cNvSpPr>
          <p:nvPr/>
        </p:nvSpPr>
        <p:spPr>
          <a:xfrm xmlns:a="http://schemas.openxmlformats.org/drawingml/2006/main">
            <a:off x="609600" y="457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2A32"/>
                </a:solidFill>
                <a:latin typeface="Helvetica Neue"/>
                <a:ea typeface="Helvetica Neue"/>
                <a:cs typeface="Helvetica Neue"/>
              </a:defRPr>
            </a:defPPr>
          </a:lstStyle>
          <a:p xmlns:a="http://schemas.openxmlformats.org/drawingml/2006/main">
            <a:pPr>
              <a:defRPr sz="3225" b="1">
                <a:solidFill>
                  <a:srgbClr val="172A32"/>
                </a:solidFill>
                <a:latin typeface="Helvetica Neue"/>
                <a:ea typeface="Helvetica Neue"/>
                <a:cs typeface="Helvetica Neue"/>
              </a:defRPr>
            </a:pPr>
            <a:r>
              <a:rPr sz="3225" b="1">
                <a:solidFill>
                  <a:srgbClr val="172A32"/>
                </a:solidFill>
                <a:latin typeface="Helvetica Neue"/>
                <a:ea typeface="Helvetica Neue"/>
                <a:cs typeface="Helvetica Neue"/>
              </a:rPr>
              <a:t>M1 FPGA board in 3D</a:t>
            </a:r>
          </a:p>
        </p:txBody>
      </p:sp>
      <p:pic>
        <p:nvPicPr>
          <p:cNvPr id="2" name="">
            <a:extLst xmlns:a="http://schemas.openxmlformats.org/drawingml/2006/main">
              <a:ext uri="{FF2B5EF4-FFF2-40B4-BE49-F238E27FC236}">
                <a16:creationId xmlns:a16="http://schemas.microsoft.com/office/drawing/2014/main" id="{8E6FCD76-B5C4-4D5D-99A1-15EAF09D5E5F}"/>
              </a:ext>
            </a:extLst>
          </p:cNvPr>
          <p:cNvPicPr>
            <a:picLocks xmlns:a="http://schemas.openxmlformats.org/drawingml/2006/main" noChangeAspect="1"/>
          </p:cNvPicPr>
          <p:nvPr/>
        </p:nvPicPr>
        <p:blipFill>
          <a:blip xmlns:r="http://schemas.openxmlformats.org/officeDocument/2006/relationships" xmlns:a="http://schemas.openxmlformats.org/drawingml/2006/main" r:embed="R00d6df0545174159"/>
          <a:stretch xmlns:a="http://schemas.openxmlformats.org/drawingml/2006/main"/>
        </p:blipFill>
        <p:spPr>
          <a:xfrm xmlns:a="http://schemas.openxmlformats.org/drawingml/2006/main">
            <a:off x="4010025" y="1333500"/>
            <a:ext cx="4171950" cy="41719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7E8E83A-C2E6-4399-A009-AA016AF70893}"/>
              </a:ext>
            </a:extLst>
          </p:cNvPr>
          <p:cNvSpPr>
            <a:spLocks xmlns:a="http://schemas.openxmlformats.org/drawingml/2006/main" noGrp="1"/>
          </p:cNvSpPr>
          <p:nvPr/>
        </p:nvSpPr>
        <p:spPr>
          <a:xfrm xmlns:a="http://schemas.openxmlformats.org/drawingml/2006/main">
            <a:off x="609600" y="5934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C6068"/>
                </a:solidFill>
                <a:latin typeface="Helvetica Neue"/>
                <a:ea typeface="Helvetica Neue"/>
                <a:cs typeface="Helvetica Neue"/>
              </a:defRPr>
            </a:defPPr>
          </a:lstStyle>
          <a:p xmlns:a="http://schemas.openxmlformats.org/drawingml/2006/main">
            <a:pPr>
              <a:defRPr sz="1500" b="0">
                <a:solidFill>
                  <a:srgbClr val="4C6068"/>
                </a:solidFill>
                <a:latin typeface="Helvetica Neue"/>
                <a:ea typeface="Helvetica Neue"/>
                <a:cs typeface="Helvetica Neue"/>
              </a:defRPr>
            </a:pPr>
            <a:r>
              <a:rPr sz="1500" b="0">
                <a:solidFill>
                  <a:srgbClr val="4C6068"/>
                </a:solidFill>
                <a:latin typeface="Helvetica Neue"/>
                <a:ea typeface="Helvetica Neue"/>
                <a:cs typeface="Helvetica Neue"/>
              </a:rPr>
              <a:t>Nominal AX3 and NVT4858 bodies show placement envelopes. Physical mating and clearance remain unqualified.</a:t>
            </a:r>
          </a:p>
        </p:txBody>
      </p:sp>
      <p:sp>
        <p:nvSpPr>
          <p:cNvPr id="4" name="">
            <a:extLst xmlns:a="http://schemas.openxmlformats.org/drawingml/2006/main">
              <a:ext uri="{FF2B5EF4-FFF2-40B4-BE49-F238E27FC236}">
                <a16:creationId xmlns:a16="http://schemas.microsoft.com/office/drawing/2014/main" id="{8E7F6BA6-4B4E-492E-BF17-4603BBC44672}"/>
              </a:ext>
            </a:extLst>
          </p:cNvPr>
          <p:cNvSpPr>
            <a:spLocks xmlns:a="http://schemas.openxmlformats.org/drawingml/2006/main" noGrp="1"/>
          </p:cNvSpPr>
          <p:nvPr/>
        </p:nvSpPr>
        <p:spPr>
          <a:xfrm xmlns:a="http://schemas.openxmlformats.org/drawingml/2006/main">
            <a:off x="11334750" y="6619875"/>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4C6068"/>
                </a:solidFill>
                <a:latin typeface="Helvetica Neue"/>
                <a:ea typeface="Helvetica Neue"/>
                <a:cs typeface="Helvetica Neue"/>
              </a:defRPr>
            </a:defPPr>
          </a:lstStyle>
          <a:p xmlns:a="http://schemas.openxmlformats.org/drawingml/2006/main">
            <a:pPr>
              <a:defRPr sz="900" b="0">
                <a:solidFill>
                  <a:srgbClr val="4C6068"/>
                </a:solidFill>
                <a:latin typeface="Helvetica Neue"/>
                <a:ea typeface="Helvetica Neue"/>
                <a:cs typeface="Helvetica Neue"/>
              </a:defRPr>
            </a:pPr>
            <a:r>
              <a:rPr sz="900" b="0">
                <a:solidFill>
                  <a:srgbClr val="4C6068"/>
                </a:solidFill>
                <a:latin typeface="Helvetica Neue"/>
                <a:ea typeface="Helvetica Neue"/>
                <a:cs typeface="Helvetica Neue"/>
              </a:rPr>
              <a:t>06 / 13</a:t>
            </a:r>
          </a:p>
        </p:txBody>
      </p:sp>
    </p:spTree>
    <p:extLst>
      <p:ext uri="{BB962C8B-B14F-4D97-AF65-F5344CB8AC3E}">
        <p14:creationId xmlns:p14="http://schemas.microsoft.com/office/powerpoint/2010/main" val="1661492253"/>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AA2FB47-D001-44E5-B111-2A46B67B026F}"/>
              </a:ext>
            </a:extLst>
          </p:cNvPr>
          <p:cNvSpPr>
            <a:spLocks xmlns:a="http://schemas.openxmlformats.org/drawingml/2006/main" noGrp="1"/>
          </p:cNvSpPr>
          <p:nvPr/>
        </p:nvSpPr>
        <p:spPr>
          <a:xfrm xmlns:a="http://schemas.openxmlformats.org/drawingml/2006/main">
            <a:off x="609600" y="457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2A32"/>
                </a:solidFill>
                <a:latin typeface="Helvetica Neue"/>
                <a:ea typeface="Helvetica Neue"/>
                <a:cs typeface="Helvetica Neue"/>
              </a:defRPr>
            </a:defPPr>
          </a:lstStyle>
          <a:p xmlns:a="http://schemas.openxmlformats.org/drawingml/2006/main">
            <a:pPr>
              <a:defRPr sz="3225" b="1">
                <a:solidFill>
                  <a:srgbClr val="172A32"/>
                </a:solidFill>
                <a:latin typeface="Helvetica Neue"/>
                <a:ea typeface="Helvetica Neue"/>
                <a:cs typeface="Helvetica Neue"/>
              </a:defRPr>
            </a:pPr>
            <a:r>
              <a:rPr sz="3225" b="1">
                <a:solidFill>
                  <a:srgbClr val="172A32"/>
                </a:solidFill>
                <a:latin typeface="Helvetica Neue"/>
                <a:ea typeface="Helvetica Neue"/>
                <a:cs typeface="Helvetica Neue"/>
              </a:rPr>
              <a:t>Simpler ASIC connections</a:t>
            </a:r>
          </a:p>
        </p:txBody>
      </p:sp>
      <p:sp>
        <p:nvSpPr>
          <p:cNvPr id="2" name="">
            <a:extLst xmlns:a="http://schemas.openxmlformats.org/drawingml/2006/main">
              <a:ext uri="{FF2B5EF4-FFF2-40B4-BE49-F238E27FC236}">
                <a16:creationId xmlns:a16="http://schemas.microsoft.com/office/drawing/2014/main" id="{B591C5DF-EB1C-4F99-A3AB-3E0C59D9A75E}"/>
              </a:ext>
            </a:extLst>
          </p:cNvPr>
          <p:cNvSpPr>
            <a:spLocks xmlns:a="http://schemas.openxmlformats.org/drawingml/2006/main" noGrp="1"/>
          </p:cNvSpPr>
          <p:nvPr/>
        </p:nvSpPr>
        <p:spPr>
          <a:xfrm xmlns:a="http://schemas.openxmlformats.org/drawingml/2006/main">
            <a:off x="609600" y="148590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2A32"/>
                </a:solidFill>
                <a:latin typeface="Helvetica Neue"/>
                <a:ea typeface="Helvetica Neue"/>
                <a:cs typeface="Helvetica Neue"/>
              </a:defRPr>
            </a:defPPr>
          </a:lstStyle>
          <a:p xmlns:a="http://schemas.openxmlformats.org/drawingml/2006/main">
            <a:pPr>
              <a:defRPr sz="2025" b="0">
                <a:solidFill>
                  <a:srgbClr val="172A32"/>
                </a:solidFill>
                <a:latin typeface="Helvetica Neue"/>
                <a:ea typeface="Helvetica Neue"/>
                <a:cs typeface="Helvetica Neue"/>
              </a:defRPr>
            </a:pPr>
            <a:r>
              <a:rPr sz="2025" b="0">
                <a:solidFill>
                  <a:srgbClr val="172A32"/>
                </a:solidFill>
                <a:latin typeface="Helvetica Neue"/>
                <a:ea typeface="Helvetica Neue"/>
                <a:cs typeface="Helvetica Neue"/>
              </a:rPr>
              <a:t>M1 removes all 15 ASIC bus buffers and 56 parts overall. The component count falls from 343 to 287.</a:t>
            </a:r>
          </a:p>
        </p:txBody>
      </p:sp>
      <p:sp>
        <p:nvSpPr>
          <p:cNvPr id="3" name="">
            <a:extLst xmlns:a="http://schemas.openxmlformats.org/drawingml/2006/main">
              <a:ext uri="{FF2B5EF4-FFF2-40B4-BE49-F238E27FC236}">
                <a16:creationId xmlns:a16="http://schemas.microsoft.com/office/drawing/2014/main" id="{A1A7DEBF-3B56-45E5-81AF-48D6AF547A6B}"/>
              </a:ext>
            </a:extLst>
          </p:cNvPr>
          <p:cNvSpPr>
            <a:spLocks xmlns:a="http://schemas.openxmlformats.org/drawingml/2006/main" noGrp="1"/>
          </p:cNvSpPr>
          <p:nvPr/>
        </p:nvSpPr>
        <p:spPr>
          <a:xfrm xmlns:a="http://schemas.openxmlformats.org/drawingml/2006/main">
            <a:off x="609600" y="248602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2A32"/>
                </a:solidFill>
                <a:latin typeface="Helvetica Neue"/>
                <a:ea typeface="Helvetica Neue"/>
                <a:cs typeface="Helvetica Neue"/>
              </a:defRPr>
            </a:defPPr>
          </a:lstStyle>
          <a:p xmlns:a="http://schemas.openxmlformats.org/drawingml/2006/main">
            <a:pPr>
              <a:defRPr sz="2025" b="0">
                <a:solidFill>
                  <a:srgbClr val="172A32"/>
                </a:solidFill>
                <a:latin typeface="Helvetica Neue"/>
                <a:ea typeface="Helvetica Neue"/>
                <a:cs typeface="Helvetica Neue"/>
              </a:defRPr>
            </a:pPr>
            <a:r>
              <a:rPr sz="2025" b="0">
                <a:solidFill>
                  <a:srgbClr val="172A32"/>
                </a:solidFill>
                <a:latin typeface="Helvetica Neue"/>
                <a:ea typeface="Helvetica Neue"/>
                <a:cs typeface="Helvetica Neue"/>
              </a:rPr>
              <a:t>The original same-ASIC LDO and ECP5 reference circuits connect their digital signals directly.</a:t>
            </a:r>
          </a:p>
        </p:txBody>
      </p:sp>
      <p:sp>
        <p:nvSpPr>
          <p:cNvPr id="4" name="">
            <a:extLst xmlns:a="http://schemas.openxmlformats.org/drawingml/2006/main">
              <a:ext uri="{FF2B5EF4-FFF2-40B4-BE49-F238E27FC236}">
                <a16:creationId xmlns:a16="http://schemas.microsoft.com/office/drawing/2014/main" id="{EA4F5CF4-24F5-4F4F-A3F7-97B3DD850849}"/>
              </a:ext>
            </a:extLst>
          </p:cNvPr>
          <p:cNvSpPr>
            <a:spLocks xmlns:a="http://schemas.openxmlformats.org/drawingml/2006/main" noGrp="1"/>
          </p:cNvSpPr>
          <p:nvPr/>
        </p:nvSpPr>
        <p:spPr>
          <a:xfrm xmlns:a="http://schemas.openxmlformats.org/drawingml/2006/main">
            <a:off x="609600" y="348615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2A32"/>
                </a:solidFill>
                <a:latin typeface="Helvetica Neue"/>
                <a:ea typeface="Helvetica Neue"/>
                <a:cs typeface="Helvetica Neue"/>
              </a:defRPr>
            </a:defPPr>
          </a:lstStyle>
          <a:p xmlns:a="http://schemas.openxmlformats.org/drawingml/2006/main">
            <a:pPr>
              <a:defRPr sz="2025" b="0">
                <a:solidFill>
                  <a:srgbClr val="172A32"/>
                </a:solidFill>
                <a:latin typeface="Helvetica Neue"/>
                <a:ea typeface="Helvetica Neue"/>
                <a:cs typeface="Helvetica Neue"/>
              </a:defRPr>
            </a:pPr>
            <a:r>
              <a:rPr sz="2025" b="0">
                <a:solidFill>
                  <a:srgbClr val="172A32"/>
                </a:solidFill>
                <a:latin typeface="Helvetica Neue"/>
                <a:ea typeface="Helvetica Neue"/>
                <a:cs typeface="Helvetica Neue"/>
              </a:rPr>
              <a:t>M1 retains the outgoing 33 Ω damping arrays, passive defaults, boot holds and stimulation permission logic.</a:t>
            </a:r>
          </a:p>
        </p:txBody>
      </p:sp>
      <p:sp>
        <p:nvSpPr>
          <p:cNvPr id="5" name="">
            <a:extLst xmlns:a="http://schemas.openxmlformats.org/drawingml/2006/main">
              <a:ext uri="{FF2B5EF4-FFF2-40B4-BE49-F238E27FC236}">
                <a16:creationId xmlns:a16="http://schemas.microsoft.com/office/drawing/2014/main" id="{F50EFE6E-152A-4E9B-AEA5-080ED458CB35}"/>
              </a:ext>
            </a:extLst>
          </p:cNvPr>
          <p:cNvSpPr>
            <a:spLocks xmlns:a="http://schemas.openxmlformats.org/drawingml/2006/main" noGrp="1"/>
          </p:cNvSpPr>
          <p:nvPr/>
        </p:nvSpPr>
        <p:spPr>
          <a:xfrm xmlns:a="http://schemas.openxmlformats.org/drawingml/2006/main">
            <a:off x="609600" y="448627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2A32"/>
                </a:solidFill>
                <a:latin typeface="Helvetica Neue"/>
                <a:ea typeface="Helvetica Neue"/>
                <a:cs typeface="Helvetica Neue"/>
              </a:defRPr>
            </a:defPPr>
          </a:lstStyle>
          <a:p xmlns:a="http://schemas.openxmlformats.org/drawingml/2006/main">
            <a:pPr>
              <a:defRPr sz="2025" b="0">
                <a:solidFill>
                  <a:srgbClr val="172A32"/>
                </a:solidFill>
                <a:latin typeface="Helvetica Neue"/>
                <a:ea typeface="Helvetica Neue"/>
                <a:cs typeface="Helvetica Neue"/>
              </a:defRPr>
            </a:pPr>
            <a:r>
              <a:rPr sz="2025" b="0">
                <a:solidFill>
                  <a:srgbClr val="172A32"/>
                </a:solidFill>
                <a:latin typeface="Helvetica Neue"/>
                <a:ea typeface="Helvetica Neue"/>
                <a:cs typeface="Helvetica Neue"/>
              </a:rPr>
              <a:t>Removing buffers also removes their powered-off isolation. Controlled power sequencing and interface qualification remain necessary.</a:t>
            </a:r>
          </a:p>
        </p:txBody>
      </p:sp>
      <p:sp>
        <p:nvSpPr>
          <p:cNvPr id="6" name="">
            <a:extLst xmlns:a="http://schemas.openxmlformats.org/drawingml/2006/main">
              <a:ext uri="{FF2B5EF4-FFF2-40B4-BE49-F238E27FC236}">
                <a16:creationId xmlns:a16="http://schemas.microsoft.com/office/drawing/2014/main" id="{51316D67-E3BA-48BF-8D24-827B5D8DE6AD}"/>
              </a:ext>
            </a:extLst>
          </p:cNvPr>
          <p:cNvSpPr>
            <a:spLocks xmlns:a="http://schemas.openxmlformats.org/drawingml/2006/main" noGrp="1"/>
          </p:cNvSpPr>
          <p:nvPr/>
        </p:nvSpPr>
        <p:spPr>
          <a:xfrm xmlns:a="http://schemas.openxmlformats.org/drawingml/2006/main">
            <a:off x="609600" y="5934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C6068"/>
                </a:solidFill>
                <a:latin typeface="Helvetica Neue"/>
                <a:ea typeface="Helvetica Neue"/>
                <a:cs typeface="Helvetica Neue"/>
              </a:defRPr>
            </a:defPPr>
          </a:lstStyle>
          <a:p xmlns:a="http://schemas.openxmlformats.org/drawingml/2006/main">
            <a:pPr>
              <a:defRPr sz="1500" b="0">
                <a:solidFill>
                  <a:srgbClr val="4C6068"/>
                </a:solidFill>
                <a:latin typeface="Helvetica Neue"/>
                <a:ea typeface="Helvetica Neue"/>
                <a:cs typeface="Helvetica Neue"/>
              </a:defRPr>
            </a:pPr>
            <a:r>
              <a:rPr sz="1500" b="0">
                <a:solidFill>
                  <a:srgbClr val="4C6068"/>
                </a:solidFill>
                <a:latin typeface="Helvetica Neue"/>
                <a:ea typeface="Helvetica Neue"/>
                <a:cs typeface="Helvetica Neue"/>
              </a:rPr>
              <a:t>All 116 ASIC paths pass independent connectivity checks. Twenty-two receive-default arrays remain fitted.</a:t>
            </a:r>
          </a:p>
        </p:txBody>
      </p:sp>
      <p:sp>
        <p:nvSpPr>
          <p:cNvPr id="7" name="">
            <a:extLst xmlns:a="http://schemas.openxmlformats.org/drawingml/2006/main">
              <a:ext uri="{FF2B5EF4-FFF2-40B4-BE49-F238E27FC236}">
                <a16:creationId xmlns:a16="http://schemas.microsoft.com/office/drawing/2014/main" id="{17A663A8-B0A6-47BD-A004-89D8762B5BFD}"/>
              </a:ext>
            </a:extLst>
          </p:cNvPr>
          <p:cNvSpPr>
            <a:spLocks xmlns:a="http://schemas.openxmlformats.org/drawingml/2006/main" noGrp="1"/>
          </p:cNvSpPr>
          <p:nvPr/>
        </p:nvSpPr>
        <p:spPr>
          <a:xfrm xmlns:a="http://schemas.openxmlformats.org/drawingml/2006/main">
            <a:off x="11334750" y="6619875"/>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4C6068"/>
                </a:solidFill>
                <a:latin typeface="Helvetica Neue"/>
                <a:ea typeface="Helvetica Neue"/>
                <a:cs typeface="Helvetica Neue"/>
              </a:defRPr>
            </a:defPPr>
          </a:lstStyle>
          <a:p xmlns:a="http://schemas.openxmlformats.org/drawingml/2006/main">
            <a:pPr>
              <a:defRPr sz="900" b="0">
                <a:solidFill>
                  <a:srgbClr val="4C6068"/>
                </a:solidFill>
                <a:latin typeface="Helvetica Neue"/>
                <a:ea typeface="Helvetica Neue"/>
                <a:cs typeface="Helvetica Neue"/>
              </a:defRPr>
            </a:pPr>
            <a:r>
              <a:rPr sz="900" b="0">
                <a:solidFill>
                  <a:srgbClr val="4C6068"/>
                </a:solidFill>
                <a:latin typeface="Helvetica Neue"/>
                <a:ea typeface="Helvetica Neue"/>
                <a:cs typeface="Helvetica Neue"/>
              </a:rPr>
              <a:t>07 / 13</a:t>
            </a:r>
          </a:p>
        </p:txBody>
      </p:sp>
    </p:spTree>
    <p:extLst>
      <p:ext uri="{BB962C8B-B14F-4D97-AF65-F5344CB8AC3E}">
        <p14:creationId xmlns:p14="http://schemas.microsoft.com/office/powerpoint/2010/main" val="89089254"/>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224FA1-44A6-48C3-B84B-B48B0775FC81}"/>
              </a:ext>
            </a:extLst>
          </p:cNvPr>
          <p:cNvSpPr>
            <a:spLocks xmlns:a="http://schemas.openxmlformats.org/drawingml/2006/main" noGrp="1"/>
          </p:cNvSpPr>
          <p:nvPr/>
        </p:nvSpPr>
        <p:spPr>
          <a:xfrm xmlns:a="http://schemas.openxmlformats.org/drawingml/2006/main">
            <a:off x="609600" y="457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2A32"/>
                </a:solidFill>
                <a:latin typeface="Helvetica Neue"/>
                <a:ea typeface="Helvetica Neue"/>
                <a:cs typeface="Helvetica Neue"/>
              </a:defRPr>
            </a:defPPr>
          </a:lstStyle>
          <a:p xmlns:a="http://schemas.openxmlformats.org/drawingml/2006/main">
            <a:pPr>
              <a:defRPr sz="3225" b="1">
                <a:solidFill>
                  <a:srgbClr val="172A32"/>
                </a:solidFill>
                <a:latin typeface="Helvetica Neue"/>
                <a:ea typeface="Helvetica Neue"/>
                <a:cs typeface="Helvetica Neue"/>
              </a:defRPr>
            </a:pPr>
            <a:r>
              <a:rPr sz="3225" b="1">
                <a:solidFill>
                  <a:srgbClr val="172A32"/>
                </a:solidFill>
                <a:latin typeface="Helvetica Neue"/>
                <a:ea typeface="Helvetica Neue"/>
                <a:cs typeface="Helvetica Neue"/>
              </a:rPr>
              <a:t>Gerald’s board-design guidance</a:t>
            </a:r>
          </a:p>
        </p:txBody>
      </p:sp>
      <p:sp>
        <p:nvSpPr>
          <p:cNvPr id="2" name="">
            <a:extLst xmlns:a="http://schemas.openxmlformats.org/drawingml/2006/main">
              <a:ext uri="{FF2B5EF4-FFF2-40B4-BE49-F238E27FC236}">
                <a16:creationId xmlns:a16="http://schemas.microsoft.com/office/drawing/2014/main" id="{6AA9B513-0E0E-4483-8E8A-9C4452797FE7}"/>
              </a:ext>
            </a:extLst>
          </p:cNvPr>
          <p:cNvSpPr>
            <a:spLocks xmlns:a="http://schemas.openxmlformats.org/drawingml/2006/main" noGrp="1"/>
          </p:cNvSpPr>
          <p:nvPr/>
        </p:nvSpPr>
        <p:spPr>
          <a:xfrm xmlns:a="http://schemas.openxmlformats.org/drawingml/2006/main">
            <a:off x="609600" y="1485900"/>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A32"/>
                </a:solidFill>
                <a:latin typeface="Helvetica Neue"/>
                <a:ea typeface="Helvetica Neue"/>
                <a:cs typeface="Helvetica Neue"/>
              </a:defRPr>
            </a:defPPr>
          </a:lstStyle>
          <a:p xmlns:a="http://schemas.openxmlformats.org/drawingml/2006/main">
            <a:pPr>
              <a:defRPr sz="1875" b="0">
                <a:solidFill>
                  <a:srgbClr val="172A32"/>
                </a:solidFill>
                <a:latin typeface="Helvetica Neue"/>
                <a:ea typeface="Helvetica Neue"/>
                <a:cs typeface="Helvetica Neue"/>
              </a:defRPr>
            </a:pPr>
            <a:r>
              <a:rPr sz="1875" b="0">
                <a:solidFill>
                  <a:srgbClr val="172A32"/>
                </a:solidFill>
                <a:latin typeface="Helvetica Neue"/>
                <a:ea typeface="Helvetica Neue"/>
                <a:cs typeface="Helvetica Neue"/>
              </a:rPr>
              <a:t>Place repeated circuits clearly, following signal flow and short local power loops.</a:t>
            </a:r>
          </a:p>
        </p:txBody>
      </p:sp>
      <p:sp>
        <p:nvSpPr>
          <p:cNvPr id="3" name="">
            <a:extLst xmlns:a="http://schemas.openxmlformats.org/drawingml/2006/main">
              <a:ext uri="{FF2B5EF4-FFF2-40B4-BE49-F238E27FC236}">
                <a16:creationId xmlns:a16="http://schemas.microsoft.com/office/drawing/2014/main" id="{560BF08D-795B-4BDF-A5CC-2C3675DCA0EF}"/>
              </a:ext>
            </a:extLst>
          </p:cNvPr>
          <p:cNvSpPr>
            <a:spLocks xmlns:a="http://schemas.openxmlformats.org/drawingml/2006/main" noGrp="1"/>
          </p:cNvSpPr>
          <p:nvPr/>
        </p:nvSpPr>
        <p:spPr>
          <a:xfrm xmlns:a="http://schemas.openxmlformats.org/drawingml/2006/main">
            <a:off x="609600" y="2276475"/>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A32"/>
                </a:solidFill>
                <a:latin typeface="Helvetica Neue"/>
                <a:ea typeface="Helvetica Neue"/>
                <a:cs typeface="Helvetica Neue"/>
              </a:defRPr>
            </a:defPPr>
          </a:lstStyle>
          <a:p xmlns:a="http://schemas.openxmlformats.org/drawingml/2006/main">
            <a:pPr>
              <a:defRPr sz="1875" b="0">
                <a:solidFill>
                  <a:srgbClr val="172A32"/>
                </a:solidFill>
                <a:latin typeface="Helvetica Neue"/>
                <a:ea typeface="Helvetica Neue"/>
                <a:cs typeface="Helvetica Neue"/>
              </a:defRPr>
            </a:pPr>
            <a:r>
              <a:rPr sz="1875" b="0">
                <a:solidFill>
                  <a:srgbClr val="172A32"/>
                </a:solidFill>
                <a:latin typeface="Helvetica Neue"/>
                <a:ea typeface="Helvetica Neue"/>
                <a:cs typeface="Helvetica Neue"/>
              </a:rPr>
              <a:t>Match total clock/data timing within each related I/O group. Shorten detours before tuning.</a:t>
            </a:r>
          </a:p>
        </p:txBody>
      </p:sp>
      <p:sp>
        <p:nvSpPr>
          <p:cNvPr id="4" name="">
            <a:extLst xmlns:a="http://schemas.openxmlformats.org/drawingml/2006/main">
              <a:ext uri="{FF2B5EF4-FFF2-40B4-BE49-F238E27FC236}">
                <a16:creationId xmlns:a16="http://schemas.microsoft.com/office/drawing/2014/main" id="{B3FD72E0-CA2A-453E-B39D-CED8337AFCF8}"/>
              </a:ext>
            </a:extLst>
          </p:cNvPr>
          <p:cNvSpPr>
            <a:spLocks xmlns:a="http://schemas.openxmlformats.org/drawingml/2006/main" noGrp="1"/>
          </p:cNvSpPr>
          <p:nvPr/>
        </p:nvSpPr>
        <p:spPr>
          <a:xfrm xmlns:a="http://schemas.openxmlformats.org/drawingml/2006/main">
            <a:off x="609600" y="3067050"/>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A32"/>
                </a:solidFill>
                <a:latin typeface="Helvetica Neue"/>
                <a:ea typeface="Helvetica Neue"/>
                <a:cs typeface="Helvetica Neue"/>
              </a:defRPr>
            </a:defPPr>
          </a:lstStyle>
          <a:p xmlns:a="http://schemas.openxmlformats.org/drawingml/2006/main">
            <a:pPr>
              <a:defRPr sz="1875" b="0">
                <a:solidFill>
                  <a:srgbClr val="172A32"/>
                </a:solidFill>
                <a:latin typeface="Helvetica Neue"/>
                <a:ea typeface="Helvetica Neue"/>
                <a:cs typeface="Helvetica Neue"/>
              </a:defRPr>
            </a:pPr>
            <a:r>
              <a:rPr sz="1875" b="0">
                <a:solidFill>
                  <a:srgbClr val="172A32"/>
                </a:solidFill>
                <a:latin typeface="Helvetica Neue"/>
                <a:ea typeface="Helvetica Neue"/>
                <a:cs typeface="Helvetica Neue"/>
              </a:rPr>
              <a:t>Keep continuous ground references and deliberate return connections at layer changes. Place bypass capacitors at their ICs.</a:t>
            </a:r>
          </a:p>
        </p:txBody>
      </p:sp>
      <p:sp>
        <p:nvSpPr>
          <p:cNvPr id="5" name="">
            <a:extLst xmlns:a="http://schemas.openxmlformats.org/drawingml/2006/main">
              <a:ext uri="{FF2B5EF4-FFF2-40B4-BE49-F238E27FC236}">
                <a16:creationId xmlns:a16="http://schemas.microsoft.com/office/drawing/2014/main" id="{999B0ED8-757D-41F1-8BE1-EB6DE9BAF3A8}"/>
              </a:ext>
            </a:extLst>
          </p:cNvPr>
          <p:cNvSpPr>
            <a:spLocks xmlns:a="http://schemas.openxmlformats.org/drawingml/2006/main" noGrp="1"/>
          </p:cNvSpPr>
          <p:nvPr/>
        </p:nvSpPr>
        <p:spPr>
          <a:xfrm xmlns:a="http://schemas.openxmlformats.org/drawingml/2006/main">
            <a:off x="609600" y="3857625"/>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A32"/>
                </a:solidFill>
                <a:latin typeface="Helvetica Neue"/>
                <a:ea typeface="Helvetica Neue"/>
                <a:cs typeface="Helvetica Neue"/>
              </a:defRPr>
            </a:defPPr>
          </a:lstStyle>
          <a:p xmlns:a="http://schemas.openxmlformats.org/drawingml/2006/main">
            <a:pPr>
              <a:defRPr sz="1875" b="0">
                <a:solidFill>
                  <a:srgbClr val="172A32"/>
                </a:solidFill>
                <a:latin typeface="Helvetica Neue"/>
                <a:ea typeface="Helvetica Neue"/>
                <a:cs typeface="Helvetica Neue"/>
              </a:defRPr>
            </a:pPr>
            <a:r>
              <a:rPr sz="1875" b="0">
                <a:solidFill>
                  <a:srgbClr val="172A32"/>
                </a:solidFill>
                <a:latin typeface="Helvetica Neue"/>
                <a:ea typeface="Helvetica Neue"/>
                <a:cs typeface="Helvetica Neue"/>
              </a:rPr>
              <a:t>Use manufacturable FPGA escapes. Gerald’s 1–2, 1–3 and 1–4 blind-via spans need a fabricator-approved construction.</a:t>
            </a:r>
          </a:p>
        </p:txBody>
      </p:sp>
      <p:sp>
        <p:nvSpPr>
          <p:cNvPr id="6" name="">
            <a:extLst xmlns:a="http://schemas.openxmlformats.org/drawingml/2006/main">
              <a:ext uri="{FF2B5EF4-FFF2-40B4-BE49-F238E27FC236}">
                <a16:creationId xmlns:a16="http://schemas.microsoft.com/office/drawing/2014/main" id="{6E4CC676-6D3F-4C73-B010-6DC2B0DB1EF6}"/>
              </a:ext>
            </a:extLst>
          </p:cNvPr>
          <p:cNvSpPr>
            <a:spLocks xmlns:a="http://schemas.openxmlformats.org/drawingml/2006/main" noGrp="1"/>
          </p:cNvSpPr>
          <p:nvPr/>
        </p:nvSpPr>
        <p:spPr>
          <a:xfrm xmlns:a="http://schemas.openxmlformats.org/drawingml/2006/main">
            <a:off x="609600" y="4648200"/>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A32"/>
                </a:solidFill>
                <a:latin typeface="Helvetica Neue"/>
                <a:ea typeface="Helvetica Neue"/>
                <a:cs typeface="Helvetica Neue"/>
              </a:defRPr>
            </a:defPPr>
          </a:lstStyle>
          <a:p xmlns:a="http://schemas.openxmlformats.org/drawingml/2006/main">
            <a:pPr>
              <a:defRPr sz="1875" b="0">
                <a:solidFill>
                  <a:srgbClr val="172A32"/>
                </a:solidFill>
                <a:latin typeface="Helvetica Neue"/>
                <a:ea typeface="Helvetica Neue"/>
                <a:cs typeface="Helvetica Neue"/>
              </a:defRPr>
            </a:pPr>
            <a:r>
              <a:rPr sz="1875" b="0">
                <a:solidFill>
                  <a:srgbClr val="172A32"/>
                </a:solidFill>
                <a:latin typeface="Helvetica Neue"/>
                <a:ea typeface="Helvetica Neue"/>
                <a:cs typeface="Helvetica Neue"/>
              </a:rPr>
              <a:t>Keep necessary functions in a compact placement, with bottom mezzanine connectors and a clear overall schematic.</a:t>
            </a:r>
          </a:p>
        </p:txBody>
      </p:sp>
      <p:sp>
        <p:nvSpPr>
          <p:cNvPr id="7" name="">
            <a:extLst xmlns:a="http://schemas.openxmlformats.org/drawingml/2006/main">
              <a:ext uri="{FF2B5EF4-FFF2-40B4-BE49-F238E27FC236}">
                <a16:creationId xmlns:a16="http://schemas.microsoft.com/office/drawing/2014/main" id="{5A1855FD-0B30-4D7E-9DEA-77EA79CF4CF4}"/>
              </a:ext>
            </a:extLst>
          </p:cNvPr>
          <p:cNvSpPr>
            <a:spLocks xmlns:a="http://schemas.openxmlformats.org/drawingml/2006/main" noGrp="1"/>
          </p:cNvSpPr>
          <p:nvPr/>
        </p:nvSpPr>
        <p:spPr>
          <a:xfrm xmlns:a="http://schemas.openxmlformats.org/drawingml/2006/main">
            <a:off x="11334750" y="6619875"/>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4C6068"/>
                </a:solidFill>
                <a:latin typeface="Helvetica Neue"/>
                <a:ea typeface="Helvetica Neue"/>
                <a:cs typeface="Helvetica Neue"/>
              </a:defRPr>
            </a:defPPr>
          </a:lstStyle>
          <a:p xmlns:a="http://schemas.openxmlformats.org/drawingml/2006/main">
            <a:pPr>
              <a:defRPr sz="900" b="0">
                <a:solidFill>
                  <a:srgbClr val="4C6068"/>
                </a:solidFill>
                <a:latin typeface="Helvetica Neue"/>
                <a:ea typeface="Helvetica Neue"/>
                <a:cs typeface="Helvetica Neue"/>
              </a:defRPr>
            </a:pPr>
            <a:r>
              <a:rPr sz="900" b="0">
                <a:solidFill>
                  <a:srgbClr val="4C6068"/>
                </a:solidFill>
                <a:latin typeface="Helvetica Neue"/>
                <a:ea typeface="Helvetica Neue"/>
                <a:cs typeface="Helvetica Neue"/>
              </a:rPr>
              <a:t>08 / 13</a:t>
            </a:r>
          </a:p>
        </p:txBody>
      </p:sp>
    </p:spTree>
    <p:extLst>
      <p:ext uri="{BB962C8B-B14F-4D97-AF65-F5344CB8AC3E}">
        <p14:creationId xmlns:p14="http://schemas.microsoft.com/office/powerpoint/2010/main" val="700187551"/>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198122-0DD4-48E4-AFAF-5AD24D5A3A3B}"/>
              </a:ext>
            </a:extLst>
          </p:cNvPr>
          <p:cNvSpPr>
            <a:spLocks xmlns:a="http://schemas.openxmlformats.org/drawingml/2006/main" noGrp="1"/>
          </p:cNvSpPr>
          <p:nvPr/>
        </p:nvSpPr>
        <p:spPr>
          <a:xfrm xmlns:a="http://schemas.openxmlformats.org/drawingml/2006/main">
            <a:off x="609600" y="457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2A32"/>
                </a:solidFill>
                <a:latin typeface="Helvetica Neue"/>
                <a:ea typeface="Helvetica Neue"/>
                <a:cs typeface="Helvetica Neue"/>
              </a:defRPr>
            </a:defPPr>
          </a:lstStyle>
          <a:p xmlns:a="http://schemas.openxmlformats.org/drawingml/2006/main">
            <a:pPr>
              <a:defRPr sz="3225" b="1">
                <a:solidFill>
                  <a:srgbClr val="172A32"/>
                </a:solidFill>
                <a:latin typeface="Helvetica Neue"/>
                <a:ea typeface="Helvetica Neue"/>
                <a:cs typeface="Helvetica Neue"/>
              </a:defRPr>
            </a:pPr>
            <a:r>
              <a:rPr sz="3225" b="1">
                <a:solidFill>
                  <a:srgbClr val="172A32"/>
                </a:solidFill>
                <a:latin typeface="Helvetica Neue"/>
                <a:ea typeface="Helvetica Neue"/>
                <a:cs typeface="Helvetica Neue"/>
              </a:rPr>
              <a:t>Existing ASIC LDO board</a:t>
            </a:r>
          </a:p>
        </p:txBody>
      </p:sp>
      <p:pic>
        <p:nvPicPr>
          <p:cNvPr id="2" name="">
            <a:extLst xmlns:a="http://schemas.openxmlformats.org/drawingml/2006/main">
              <a:ext uri="{FF2B5EF4-FFF2-40B4-BE49-F238E27FC236}">
                <a16:creationId xmlns:a16="http://schemas.microsoft.com/office/drawing/2014/main" id="{29A62EC1-5C53-4BCE-9425-40A56C180F34}"/>
              </a:ext>
            </a:extLst>
          </p:cNvPr>
          <p:cNvPicPr>
            <a:picLocks xmlns:a="http://schemas.openxmlformats.org/drawingml/2006/main" noChangeAspect="1"/>
          </p:cNvPicPr>
          <p:nvPr/>
        </p:nvPicPr>
        <p:blipFill>
          <a:blip xmlns:r="http://schemas.openxmlformats.org/officeDocument/2006/relationships" xmlns:a="http://schemas.openxmlformats.org/drawingml/2006/main" r:embed="R946bde60b4924939"/>
          <a:stretch xmlns:a="http://schemas.openxmlformats.org/drawingml/2006/main"/>
        </p:blipFill>
        <p:spPr>
          <a:xfrm xmlns:a="http://schemas.openxmlformats.org/drawingml/2006/main">
            <a:off x="2473546" y="1381125"/>
            <a:ext cx="1625158" cy="37338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229BE723-A545-49E9-BC37-DB90F942572C}"/>
              </a:ext>
            </a:extLst>
          </p:cNvPr>
          <p:cNvSpPr>
            <a:spLocks xmlns:a="http://schemas.openxmlformats.org/drawingml/2006/main" noGrp="1"/>
          </p:cNvSpPr>
          <p:nvPr/>
        </p:nvSpPr>
        <p:spPr>
          <a:xfrm xmlns:a="http://schemas.openxmlformats.org/drawingml/2006/main">
            <a:off x="609600" y="5229225"/>
            <a:ext cx="535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4C6068"/>
                </a:solidFill>
                <a:latin typeface="Helvetica Neue"/>
                <a:ea typeface="Helvetica Neue"/>
                <a:cs typeface="Helvetica Neue"/>
              </a:defRPr>
            </a:defPPr>
          </a:lstStyle>
          <a:p xmlns:a="http://schemas.openxmlformats.org/drawingml/2006/main">
            <a:pPr>
              <a:defRPr sz="1575" b="0">
                <a:solidFill>
                  <a:srgbClr val="4C6068"/>
                </a:solidFill>
                <a:latin typeface="Helvetica Neue"/>
                <a:ea typeface="Helvetica Neue"/>
                <a:cs typeface="Helvetica Neue"/>
              </a:defRPr>
            </a:pPr>
            <a:r>
              <a:rPr sz="1575" b="0">
                <a:solidFill>
                  <a:srgbClr val="4C6068"/>
                </a:solidFill>
                <a:latin typeface="Helvetica Neue"/>
                <a:ea typeface="Helvetica Neue"/>
                <a:cs typeface="Helvetica Neue"/>
              </a:rPr>
              <a:t>Actual native board layout</a:t>
            </a:r>
          </a:p>
        </p:txBody>
      </p:sp>
      <p:pic>
        <p:nvPicPr>
          <p:cNvPr id="4" name="">
            <a:extLst xmlns:a="http://schemas.openxmlformats.org/drawingml/2006/main">
              <a:ext uri="{FF2B5EF4-FFF2-40B4-BE49-F238E27FC236}">
                <a16:creationId xmlns:a16="http://schemas.microsoft.com/office/drawing/2014/main" id="{5124CAA9-4C98-407F-A8E7-CC6D7426181A}"/>
              </a:ext>
            </a:extLst>
          </p:cNvPr>
          <p:cNvPicPr>
            <a:picLocks xmlns:a="http://schemas.openxmlformats.org/drawingml/2006/main" noChangeAspect="1"/>
          </p:cNvPicPr>
          <p:nvPr/>
        </p:nvPicPr>
        <p:blipFill>
          <a:blip xmlns:r="http://schemas.openxmlformats.org/officeDocument/2006/relationships" xmlns:a="http://schemas.openxmlformats.org/drawingml/2006/main" r:embed="R8e88633458c247b7"/>
          <a:stretch xmlns:a="http://schemas.openxmlformats.org/drawingml/2006/main"/>
        </p:blipFill>
        <p:spPr>
          <a:xfrm xmlns:a="http://schemas.openxmlformats.org/drawingml/2006/main">
            <a:off x="6507126" y="1381125"/>
            <a:ext cx="4797499" cy="37338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7FBAFA4-1D85-402F-8728-59C5B5B29C4A}"/>
              </a:ext>
            </a:extLst>
          </p:cNvPr>
          <p:cNvSpPr>
            <a:spLocks xmlns:a="http://schemas.openxmlformats.org/drawingml/2006/main" noGrp="1"/>
          </p:cNvSpPr>
          <p:nvPr/>
        </p:nvSpPr>
        <p:spPr>
          <a:xfrm xmlns:a="http://schemas.openxmlformats.org/drawingml/2006/main">
            <a:off x="6229350" y="5229225"/>
            <a:ext cx="535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4C6068"/>
                </a:solidFill>
                <a:latin typeface="Helvetica Neue"/>
                <a:ea typeface="Helvetica Neue"/>
                <a:cs typeface="Helvetica Neue"/>
              </a:defRPr>
            </a:defPPr>
          </a:lstStyle>
          <a:p xmlns:a="http://schemas.openxmlformats.org/drawingml/2006/main">
            <a:pPr>
              <a:defRPr sz="1575" b="0">
                <a:solidFill>
                  <a:srgbClr val="4C6068"/>
                </a:solidFill>
                <a:latin typeface="Helvetica Neue"/>
                <a:ea typeface="Helvetica Neue"/>
                <a:cs typeface="Helvetica Neue"/>
              </a:defRPr>
            </a:pPr>
            <a:r>
              <a:rPr sz="1575" b="0">
                <a:solidFill>
                  <a:srgbClr val="4C6068"/>
                </a:solidFill>
                <a:latin typeface="Helvetica Neue"/>
                <a:ea typeface="Helvetica Neue"/>
                <a:cs typeface="Helvetica Neue"/>
              </a:rPr>
              <a:t>Native KiCad 3D view</a:t>
            </a:r>
          </a:p>
        </p:txBody>
      </p:sp>
      <p:sp>
        <p:nvSpPr>
          <p:cNvPr id="6" name="">
            <a:extLst xmlns:a="http://schemas.openxmlformats.org/drawingml/2006/main">
              <a:ext uri="{FF2B5EF4-FFF2-40B4-BE49-F238E27FC236}">
                <a16:creationId xmlns:a16="http://schemas.microsoft.com/office/drawing/2014/main" id="{CF9C1ED8-BA34-41A8-A639-EE57E210F3BB}"/>
              </a:ext>
            </a:extLst>
          </p:cNvPr>
          <p:cNvSpPr>
            <a:spLocks xmlns:a="http://schemas.openxmlformats.org/drawingml/2006/main" noGrp="1"/>
          </p:cNvSpPr>
          <p:nvPr/>
        </p:nvSpPr>
        <p:spPr>
          <a:xfrm xmlns:a="http://schemas.openxmlformats.org/drawingml/2006/main">
            <a:off x="609600" y="5934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C6068"/>
                </a:solidFill>
                <a:latin typeface="Helvetica Neue"/>
                <a:ea typeface="Helvetica Neue"/>
                <a:cs typeface="Helvetica Neue"/>
              </a:defRPr>
            </a:defPPr>
          </a:lstStyle>
          <a:p xmlns:a="http://schemas.openxmlformats.org/drawingml/2006/main">
            <a:pPr>
              <a:defRPr sz="1500" b="0">
                <a:solidFill>
                  <a:srgbClr val="4C6068"/>
                </a:solidFill>
                <a:latin typeface="Helvetica Neue"/>
                <a:ea typeface="Helvetica Neue"/>
                <a:cs typeface="Helvetica Neue"/>
              </a:defRPr>
            </a:pPr>
            <a:r>
              <a:rPr sz="1500" b="0">
                <a:solidFill>
                  <a:srgbClr val="4C6068"/>
                </a:solidFill>
                <a:latin typeface="Helvetica Neue"/>
                <a:ea typeface="Helvetica Neue"/>
                <a:cs typeface="Helvetica Neue"/>
              </a:rPr>
              <a:t>Nine regulator/reference stages. J1/J19 housing models are absent. J19 has no assigned nets. Installed population remains unverified.</a:t>
            </a:r>
          </a:p>
        </p:txBody>
      </p:sp>
      <p:sp>
        <p:nvSpPr>
          <p:cNvPr id="7" name="">
            <a:extLst xmlns:a="http://schemas.openxmlformats.org/drawingml/2006/main">
              <a:ext uri="{FF2B5EF4-FFF2-40B4-BE49-F238E27FC236}">
                <a16:creationId xmlns:a16="http://schemas.microsoft.com/office/drawing/2014/main" id="{1FB8F7A3-4103-46B5-BF8A-B0FF0BE56FD4}"/>
              </a:ext>
            </a:extLst>
          </p:cNvPr>
          <p:cNvSpPr>
            <a:spLocks xmlns:a="http://schemas.openxmlformats.org/drawingml/2006/main" noGrp="1"/>
          </p:cNvSpPr>
          <p:nvPr/>
        </p:nvSpPr>
        <p:spPr>
          <a:xfrm xmlns:a="http://schemas.openxmlformats.org/drawingml/2006/main">
            <a:off x="11334750" y="6619875"/>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4C6068"/>
                </a:solidFill>
                <a:latin typeface="Helvetica Neue"/>
                <a:ea typeface="Helvetica Neue"/>
                <a:cs typeface="Helvetica Neue"/>
              </a:defRPr>
            </a:defPPr>
          </a:lstStyle>
          <a:p xmlns:a="http://schemas.openxmlformats.org/drawingml/2006/main">
            <a:pPr>
              <a:defRPr sz="900" b="0">
                <a:solidFill>
                  <a:srgbClr val="4C6068"/>
                </a:solidFill>
                <a:latin typeface="Helvetica Neue"/>
                <a:ea typeface="Helvetica Neue"/>
                <a:cs typeface="Helvetica Neue"/>
              </a:defRPr>
            </a:pPr>
            <a:r>
              <a:rPr sz="900" b="0">
                <a:solidFill>
                  <a:srgbClr val="4C6068"/>
                </a:solidFill>
                <a:latin typeface="Helvetica Neue"/>
                <a:ea typeface="Helvetica Neue"/>
                <a:cs typeface="Helvetica Neue"/>
              </a:rPr>
              <a:t>09 / 13</a:t>
            </a:r>
          </a:p>
        </p:txBody>
      </p:sp>
    </p:spTree>
    <p:extLst>
      <p:ext uri="{BB962C8B-B14F-4D97-AF65-F5344CB8AC3E}">
        <p14:creationId xmlns:p14="http://schemas.microsoft.com/office/powerpoint/2010/main" val="4309692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CE9BD82-DD4A-4436-831A-7DDB929940A3}"/>
              </a:ext>
            </a:extLst>
          </p:cNvPr>
          <p:cNvSpPr>
            <a:spLocks xmlns:a="http://schemas.openxmlformats.org/drawingml/2006/main" noGrp="1"/>
          </p:cNvSpPr>
          <p:nvPr/>
        </p:nvSpPr>
        <p:spPr>
          <a:xfrm xmlns:a="http://schemas.openxmlformats.org/drawingml/2006/main">
            <a:off x="609600" y="457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2A32"/>
                </a:solidFill>
                <a:latin typeface="Helvetica Neue"/>
                <a:ea typeface="Helvetica Neue"/>
                <a:cs typeface="Helvetica Neue"/>
              </a:defRPr>
            </a:defPPr>
          </a:lstStyle>
          <a:p xmlns:a="http://schemas.openxmlformats.org/drawingml/2006/main">
            <a:pPr>
              <a:defRPr sz="3225" b="1">
                <a:solidFill>
                  <a:srgbClr val="172A32"/>
                </a:solidFill>
                <a:latin typeface="Helvetica Neue"/>
                <a:ea typeface="Helvetica Neue"/>
                <a:cs typeface="Helvetica Neue"/>
              </a:defRPr>
            </a:pPr>
            <a:r>
              <a:rPr sz="3225" b="1">
                <a:solidFill>
                  <a:srgbClr val="172A32"/>
                </a:solidFill>
                <a:latin typeface="Helvetica Neue"/>
                <a:ea typeface="Helvetica Neue"/>
                <a:cs typeface="Helvetica Neue"/>
              </a:rPr>
              <a:t>Received direct-carrier layout</a:t>
            </a:r>
          </a:p>
        </p:txBody>
      </p:sp>
      <p:pic>
        <p:nvPicPr>
          <p:cNvPr id="2" name="">
            <a:extLst xmlns:a="http://schemas.openxmlformats.org/drawingml/2006/main">
              <a:ext uri="{FF2B5EF4-FFF2-40B4-BE49-F238E27FC236}">
                <a16:creationId xmlns:a16="http://schemas.microsoft.com/office/drawing/2014/main" id="{D134B8DB-1054-40C8-BC5E-CF1F588C5080}"/>
              </a:ext>
            </a:extLst>
          </p:cNvPr>
          <p:cNvPicPr>
            <a:picLocks xmlns:a="http://schemas.openxmlformats.org/drawingml/2006/main" noChangeAspect="1"/>
          </p:cNvPicPr>
          <p:nvPr/>
        </p:nvPicPr>
        <p:blipFill>
          <a:blip xmlns:r="http://schemas.openxmlformats.org/officeDocument/2006/relationships" xmlns:a="http://schemas.openxmlformats.org/drawingml/2006/main" r:embed="Rdb8add54ec664629"/>
          <a:stretch xmlns:a="http://schemas.openxmlformats.org/drawingml/2006/main"/>
        </p:blipFill>
        <p:spPr>
          <a:xfrm xmlns:a="http://schemas.openxmlformats.org/drawingml/2006/main">
            <a:off x="2094170" y="1381125"/>
            <a:ext cx="2383911" cy="37338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8B6DA2A-3A84-440D-B028-A0864EBCA7F6}"/>
              </a:ext>
            </a:extLst>
          </p:cNvPr>
          <p:cNvSpPr>
            <a:spLocks xmlns:a="http://schemas.openxmlformats.org/drawingml/2006/main" noGrp="1"/>
          </p:cNvSpPr>
          <p:nvPr/>
        </p:nvSpPr>
        <p:spPr>
          <a:xfrm xmlns:a="http://schemas.openxmlformats.org/drawingml/2006/main">
            <a:off x="609600" y="5229225"/>
            <a:ext cx="535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4C6068"/>
                </a:solidFill>
                <a:latin typeface="Helvetica Neue"/>
                <a:ea typeface="Helvetica Neue"/>
                <a:cs typeface="Helvetica Neue"/>
              </a:defRPr>
            </a:defPPr>
          </a:lstStyle>
          <a:p xmlns:a="http://schemas.openxmlformats.org/drawingml/2006/main">
            <a:pPr>
              <a:defRPr sz="1575" b="0">
                <a:solidFill>
                  <a:srgbClr val="4C6068"/>
                </a:solidFill>
                <a:latin typeface="Helvetica Neue"/>
                <a:ea typeface="Helvetica Neue"/>
                <a:cs typeface="Helvetica Neue"/>
              </a:defRPr>
            </a:pPr>
            <a:r>
              <a:rPr sz="1575" b="0">
                <a:solidFill>
                  <a:srgbClr val="4C6068"/>
                </a:solidFill>
                <a:latin typeface="Helvetica Neue"/>
                <a:ea typeface="Helvetica Neue"/>
                <a:cs typeface="Helvetica Neue"/>
              </a:rPr>
              <a:t>New Desktop carrier, top layout</a:t>
            </a:r>
          </a:p>
        </p:txBody>
      </p:sp>
      <p:pic>
        <p:nvPicPr>
          <p:cNvPr id="4" name="">
            <a:extLst xmlns:a="http://schemas.openxmlformats.org/drawingml/2006/main">
              <a:ext uri="{FF2B5EF4-FFF2-40B4-BE49-F238E27FC236}">
                <a16:creationId xmlns:a16="http://schemas.microsoft.com/office/drawing/2014/main" id="{1E08B999-2F7B-4D4E-AA1F-203567AA1B01}"/>
              </a:ext>
            </a:extLst>
          </p:cNvPr>
          <p:cNvPicPr>
            <a:picLocks xmlns:a="http://schemas.openxmlformats.org/drawingml/2006/main" noChangeAspect="1"/>
          </p:cNvPicPr>
          <p:nvPr/>
        </p:nvPicPr>
        <p:blipFill>
          <a:blip xmlns:r="http://schemas.openxmlformats.org/officeDocument/2006/relationships" xmlns:a="http://schemas.openxmlformats.org/drawingml/2006/main" r:embed="Ra17a461abf0a45d4"/>
          <a:stretch xmlns:a="http://schemas.openxmlformats.org/drawingml/2006/main"/>
        </p:blipFill>
        <p:spPr>
          <a:xfrm xmlns:a="http://schemas.openxmlformats.org/drawingml/2006/main">
            <a:off x="7713920" y="1381125"/>
            <a:ext cx="2383911" cy="37338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7C20AC0-D6E6-40CB-BB91-B94773BFE2A4}"/>
              </a:ext>
            </a:extLst>
          </p:cNvPr>
          <p:cNvSpPr>
            <a:spLocks xmlns:a="http://schemas.openxmlformats.org/drawingml/2006/main" noGrp="1"/>
          </p:cNvSpPr>
          <p:nvPr/>
        </p:nvSpPr>
        <p:spPr>
          <a:xfrm xmlns:a="http://schemas.openxmlformats.org/drawingml/2006/main">
            <a:off x="6229350" y="5229225"/>
            <a:ext cx="535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4C6068"/>
                </a:solidFill>
                <a:latin typeface="Helvetica Neue"/>
                <a:ea typeface="Helvetica Neue"/>
                <a:cs typeface="Helvetica Neue"/>
              </a:defRPr>
            </a:defPPr>
          </a:lstStyle>
          <a:p xmlns:a="http://schemas.openxmlformats.org/drawingml/2006/main">
            <a:pPr>
              <a:defRPr sz="1575" b="0">
                <a:solidFill>
                  <a:srgbClr val="4C6068"/>
                </a:solidFill>
                <a:latin typeface="Helvetica Neue"/>
                <a:ea typeface="Helvetica Neue"/>
                <a:cs typeface="Helvetica Neue"/>
              </a:defRPr>
            </a:pPr>
            <a:r>
              <a:rPr sz="1575" b="0">
                <a:solidFill>
                  <a:srgbClr val="4C6068"/>
                </a:solidFill>
                <a:latin typeface="Helvetica Neue"/>
                <a:ea typeface="Helvetica Neue"/>
                <a:cs typeface="Helvetica Neue"/>
              </a:rPr>
              <a:t>New Desktop carrier, underside layout</a:t>
            </a:r>
          </a:p>
        </p:txBody>
      </p:sp>
      <p:sp>
        <p:nvSpPr>
          <p:cNvPr id="6" name="">
            <a:extLst xmlns:a="http://schemas.openxmlformats.org/drawingml/2006/main">
              <a:ext uri="{FF2B5EF4-FFF2-40B4-BE49-F238E27FC236}">
                <a16:creationId xmlns:a16="http://schemas.microsoft.com/office/drawing/2014/main" id="{7D733169-0E59-4D45-83D6-83D178FEFF6E}"/>
              </a:ext>
            </a:extLst>
          </p:cNvPr>
          <p:cNvSpPr>
            <a:spLocks xmlns:a="http://schemas.openxmlformats.org/drawingml/2006/main" noGrp="1"/>
          </p:cNvSpPr>
          <p:nvPr/>
        </p:nvSpPr>
        <p:spPr>
          <a:xfrm xmlns:a="http://schemas.openxmlformats.org/drawingml/2006/main">
            <a:off x="609600" y="5934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C6068"/>
                </a:solidFill>
                <a:latin typeface="Helvetica Neue"/>
                <a:ea typeface="Helvetica Neue"/>
                <a:cs typeface="Helvetica Neue"/>
              </a:defRPr>
            </a:defPPr>
          </a:lstStyle>
          <a:p xmlns:a="http://schemas.openxmlformats.org/drawingml/2006/main">
            <a:pPr>
              <a:defRPr sz="1500" b="0">
                <a:solidFill>
                  <a:srgbClr val="4C6068"/>
                </a:solidFill>
                <a:latin typeface="Helvetica Neue"/>
                <a:ea typeface="Helvetica Neue"/>
                <a:cs typeface="Helvetica Neue"/>
              </a:defRPr>
            </a:pPr>
            <a:r>
              <a:rPr sz="1500" b="0">
                <a:solidFill>
                  <a:srgbClr val="4C6068"/>
                </a:solidFill>
                <a:latin typeface="Helvetica Neue"/>
                <a:ea typeface="Helvetica Neue"/>
                <a:cs typeface="Helvetica Neue"/>
              </a:rPr>
              <a:t>Board_Howard draft: 38 DRC errors, 21 dangling-track warnings and 20 assigned open connections. Compare with saved Step 8.</a:t>
            </a:r>
          </a:p>
        </p:txBody>
      </p:sp>
      <p:sp>
        <p:nvSpPr>
          <p:cNvPr id="7" name="">
            <a:extLst xmlns:a="http://schemas.openxmlformats.org/drawingml/2006/main">
              <a:ext uri="{FF2B5EF4-FFF2-40B4-BE49-F238E27FC236}">
                <a16:creationId xmlns:a16="http://schemas.microsoft.com/office/drawing/2014/main" id="{19F62C3F-5E42-4534-9013-D1644EB9073C}"/>
              </a:ext>
            </a:extLst>
          </p:cNvPr>
          <p:cNvSpPr>
            <a:spLocks xmlns:a="http://schemas.openxmlformats.org/drawingml/2006/main" noGrp="1"/>
          </p:cNvSpPr>
          <p:nvPr/>
        </p:nvSpPr>
        <p:spPr>
          <a:xfrm xmlns:a="http://schemas.openxmlformats.org/drawingml/2006/main">
            <a:off x="11334750" y="6619875"/>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4C6068"/>
                </a:solidFill>
                <a:latin typeface="Helvetica Neue"/>
                <a:ea typeface="Helvetica Neue"/>
                <a:cs typeface="Helvetica Neue"/>
              </a:defRPr>
            </a:defPPr>
          </a:lstStyle>
          <a:p xmlns:a="http://schemas.openxmlformats.org/drawingml/2006/main">
            <a:pPr>
              <a:defRPr sz="900" b="0">
                <a:solidFill>
                  <a:srgbClr val="4C6068"/>
                </a:solidFill>
                <a:latin typeface="Helvetica Neue"/>
                <a:ea typeface="Helvetica Neue"/>
                <a:cs typeface="Helvetica Neue"/>
              </a:defRPr>
            </a:pPr>
            <a:r>
              <a:rPr sz="900" b="0">
                <a:solidFill>
                  <a:srgbClr val="4C6068"/>
                </a:solidFill>
                <a:latin typeface="Helvetica Neue"/>
                <a:ea typeface="Helvetica Neue"/>
                <a:cs typeface="Helvetica Neue"/>
              </a:rPr>
              <a:t>10 / 13</a:t>
            </a:r>
          </a:p>
        </p:txBody>
      </p:sp>
    </p:spTree>
    <p:extLst>
      <p:ext uri="{BB962C8B-B14F-4D97-AF65-F5344CB8AC3E}">
        <p14:creationId xmlns:p14="http://schemas.microsoft.com/office/powerpoint/2010/main" val="395577721"/>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FB005C7-C066-4A7F-BB9D-1CE188D56181}"/>
              </a:ext>
            </a:extLst>
          </p:cNvPr>
          <p:cNvSpPr>
            <a:spLocks xmlns:a="http://schemas.openxmlformats.org/drawingml/2006/main" noGrp="1"/>
          </p:cNvSpPr>
          <p:nvPr/>
        </p:nvSpPr>
        <p:spPr>
          <a:xfrm xmlns:a="http://schemas.openxmlformats.org/drawingml/2006/main">
            <a:off x="609600" y="457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2A32"/>
                </a:solidFill>
                <a:latin typeface="Helvetica Neue"/>
                <a:ea typeface="Helvetica Neue"/>
                <a:cs typeface="Helvetica Neue"/>
              </a:defRPr>
            </a:defPPr>
          </a:lstStyle>
          <a:p xmlns:a="http://schemas.openxmlformats.org/drawingml/2006/main">
            <a:pPr>
              <a:defRPr sz="3225" b="1">
                <a:solidFill>
                  <a:srgbClr val="172A32"/>
                </a:solidFill>
                <a:latin typeface="Helvetica Neue"/>
                <a:ea typeface="Helvetica Neue"/>
                <a:cs typeface="Helvetica Neue"/>
              </a:defRPr>
            </a:pPr>
            <a:r>
              <a:rPr sz="3225" b="1">
                <a:solidFill>
                  <a:srgbClr val="172A32"/>
                </a:solidFill>
                <a:latin typeface="Helvetica Neue"/>
                <a:ea typeface="Helvetica Neue"/>
                <a:cs typeface="Helvetica Neue"/>
              </a:rPr>
              <a:t>Received carrier in 3D</a:t>
            </a:r>
          </a:p>
        </p:txBody>
      </p:sp>
      <p:pic>
        <p:nvPicPr>
          <p:cNvPr id="2" name="">
            <a:extLst xmlns:a="http://schemas.openxmlformats.org/drawingml/2006/main">
              <a:ext uri="{FF2B5EF4-FFF2-40B4-BE49-F238E27FC236}">
                <a16:creationId xmlns:a16="http://schemas.microsoft.com/office/drawing/2014/main" id="{2AAF077F-DBE6-4080-A630-3C5D622E9457}"/>
              </a:ext>
            </a:extLst>
          </p:cNvPr>
          <p:cNvPicPr>
            <a:picLocks xmlns:a="http://schemas.openxmlformats.org/drawingml/2006/main" noChangeAspect="1"/>
          </p:cNvPicPr>
          <p:nvPr/>
        </p:nvPicPr>
        <p:blipFill>
          <a:blip xmlns:r="http://schemas.openxmlformats.org/officeDocument/2006/relationships" xmlns:a="http://schemas.openxmlformats.org/drawingml/2006/main" r:embed="Rc435c42b286f4b27"/>
          <a:stretch xmlns:a="http://schemas.openxmlformats.org/drawingml/2006/main"/>
        </p:blipFill>
        <p:spPr>
          <a:xfrm xmlns:a="http://schemas.openxmlformats.org/drawingml/2006/main">
            <a:off x="3415765" y="1333500"/>
            <a:ext cx="5360471" cy="41719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2DFF966-40DB-422D-BC11-A7A968D80331}"/>
              </a:ext>
            </a:extLst>
          </p:cNvPr>
          <p:cNvSpPr>
            <a:spLocks xmlns:a="http://schemas.openxmlformats.org/drawingml/2006/main" noGrp="1"/>
          </p:cNvSpPr>
          <p:nvPr/>
        </p:nvSpPr>
        <p:spPr>
          <a:xfrm xmlns:a="http://schemas.openxmlformats.org/drawingml/2006/main">
            <a:off x="609600" y="5934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C6068"/>
                </a:solidFill>
                <a:latin typeface="Helvetica Neue"/>
                <a:ea typeface="Helvetica Neue"/>
                <a:cs typeface="Helvetica Neue"/>
              </a:defRPr>
            </a:defPPr>
          </a:lstStyle>
          <a:p xmlns:a="http://schemas.openxmlformats.org/drawingml/2006/main">
            <a:pPr>
              <a:defRPr sz="1500" b="0">
                <a:solidFill>
                  <a:srgbClr val="4C6068"/>
                </a:solidFill>
                <a:latin typeface="Helvetica Neue"/>
                <a:ea typeface="Helvetica Neue"/>
                <a:cs typeface="Helvetica Neue"/>
              </a:defRPr>
            </a:pPr>
            <a:r>
              <a:rPr sz="1500" b="0">
                <a:solidFill>
                  <a:srgbClr val="4C6068"/>
                </a:solidFill>
                <a:latin typeface="Helvetica Neue"/>
                <a:ea typeface="Helvetica Neue"/>
                <a:cs typeface="Helvetica Neue"/>
              </a:rPr>
              <a:t>Native preview includes the Samtec XEM sockets. Hirose J1/J19 housings are missing. Seating and assembled fit remain open.</a:t>
            </a:r>
          </a:p>
        </p:txBody>
      </p:sp>
      <p:sp>
        <p:nvSpPr>
          <p:cNvPr id="4" name="">
            <a:extLst xmlns:a="http://schemas.openxmlformats.org/drawingml/2006/main">
              <a:ext uri="{FF2B5EF4-FFF2-40B4-BE49-F238E27FC236}">
                <a16:creationId xmlns:a16="http://schemas.microsoft.com/office/drawing/2014/main" id="{8BEC3510-6EF2-4338-ACD8-E3EF20A3A313}"/>
              </a:ext>
            </a:extLst>
          </p:cNvPr>
          <p:cNvSpPr>
            <a:spLocks xmlns:a="http://schemas.openxmlformats.org/drawingml/2006/main" noGrp="1"/>
          </p:cNvSpPr>
          <p:nvPr/>
        </p:nvSpPr>
        <p:spPr>
          <a:xfrm xmlns:a="http://schemas.openxmlformats.org/drawingml/2006/main">
            <a:off x="11334750" y="6619875"/>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4C6068"/>
                </a:solidFill>
                <a:latin typeface="Helvetica Neue"/>
                <a:ea typeface="Helvetica Neue"/>
                <a:cs typeface="Helvetica Neue"/>
              </a:defRPr>
            </a:defPPr>
          </a:lstStyle>
          <a:p xmlns:a="http://schemas.openxmlformats.org/drawingml/2006/main">
            <a:pPr>
              <a:defRPr sz="900" b="0">
                <a:solidFill>
                  <a:srgbClr val="4C6068"/>
                </a:solidFill>
                <a:latin typeface="Helvetica Neue"/>
                <a:ea typeface="Helvetica Neue"/>
                <a:cs typeface="Helvetica Neue"/>
              </a:defRPr>
            </a:pPr>
            <a:r>
              <a:rPr sz="900" b="0">
                <a:solidFill>
                  <a:srgbClr val="4C6068"/>
                </a:solidFill>
                <a:latin typeface="Helvetica Neue"/>
                <a:ea typeface="Helvetica Neue"/>
                <a:cs typeface="Helvetica Neue"/>
              </a:rPr>
              <a:t>11 / 13</a:t>
            </a:r>
          </a:p>
        </p:txBody>
      </p:sp>
    </p:spTree>
    <p:extLst>
      <p:ext uri="{BB962C8B-B14F-4D97-AF65-F5344CB8AC3E}">
        <p14:creationId xmlns:p14="http://schemas.microsoft.com/office/powerpoint/2010/main" val="1026006863"/>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7D36B20-71CF-4030-802D-C30533C98A32}"/>
              </a:ext>
            </a:extLst>
          </p:cNvPr>
          <p:cNvSpPr>
            <a:spLocks xmlns:a="http://schemas.openxmlformats.org/drawingml/2006/main" noGrp="1"/>
          </p:cNvSpPr>
          <p:nvPr/>
        </p:nvSpPr>
        <p:spPr>
          <a:xfrm xmlns:a="http://schemas.openxmlformats.org/drawingml/2006/main">
            <a:off x="609600" y="457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2A32"/>
                </a:solidFill>
                <a:latin typeface="Helvetica Neue"/>
                <a:ea typeface="Helvetica Neue"/>
                <a:cs typeface="Helvetica Neue"/>
              </a:defRPr>
            </a:defPPr>
          </a:lstStyle>
          <a:p xmlns:a="http://schemas.openxmlformats.org/drawingml/2006/main">
            <a:pPr>
              <a:defRPr sz="3225" b="1">
                <a:solidFill>
                  <a:srgbClr val="172A32"/>
                </a:solidFill>
                <a:latin typeface="Helvetica Neue"/>
                <a:ea typeface="Helvetica Neue"/>
                <a:cs typeface="Helvetica Neue"/>
              </a:defRPr>
            </a:pPr>
            <a:r>
              <a:rPr sz="3225" b="1">
                <a:solidFill>
                  <a:srgbClr val="172A32"/>
                </a:solidFill>
                <a:latin typeface="Helvetica Neue"/>
                <a:ea typeface="Helvetica Neue"/>
                <a:cs typeface="Helvetica Neue"/>
              </a:rPr>
              <a:t>Carrier routing status</a:t>
            </a:r>
          </a:p>
        </p:txBody>
      </p:sp>
      <p:graphicFrame>
        <p:nvGraphicFramePr>
          <p:cNvPr id="2" name="">
            <a:extLst xmlns:a="http://schemas.openxmlformats.org/drawingml/2006/main">
              <a:ext uri="{FF2B5EF4-FFF2-40B4-BE49-F238E27FC236}">
                <a16:creationId xmlns:a16="http://schemas.microsoft.com/office/drawing/2014/main" id="{A980C3E0-2CF2-4B67-95E9-1B9DEB3D5619}"/>
              </a:ext>
            </a:extLst>
          </p:cNvPr>
          <p:cNvGraphicFramePr/>
          <p:nvPr/>
        </p:nvGraphicFramePr>
        <p:xfrm>
          <a:off xmlns:a="http://schemas.openxmlformats.org/drawingml/2006/main" x="609600" y="1476375"/>
          <a:ext xmlns:a="http://schemas.openxmlformats.org/drawingml/2006/main" cx="10972800" cy="3810000"/>
        </p:xfrm>
        <a:graphic xmlns:a="http://schemas.openxmlformats.org/drawingml/2006/main">
          <a:graphicData uri="http://schemas.openxmlformats.org/drawingml/2006/table">
            <a:tbl>
              <a:tblPr/>
              <a:tblGrid>
                <a:gridCol w="2781300"/>
                <a:gridCol w="4095750"/>
                <a:gridCol w="4095750"/>
              </a:tblGrid>
              <a:tr h="635000">
                <a:tc>
                  <a:txBody>
                    <a:bodyPr/>
                    <a:lstStyle/>
                    <a:p>
                      <a:r>
                        <a:rPr sz="1800" b="1">
                          <a:solidFill>
                            <a:srgbClr val="126A71"/>
                          </a:solidFill>
                          <a:latin typeface="Helvetica Neue"/>
                          <a:ea typeface="Helvetica Neue"/>
                          <a:cs typeface="Helvetica Neue"/>
                        </a:rPr>
                        <a:t>Native check</a:t>
                      </a:r>
                    </a:p>
                  </a:txBody>
                  <a:tcPr marL="95250" marR="95250" marT="123825" marB="95250">
                    <a:solidFill>
                      <a:srgbClr val="FCFCFA"/>
                    </a:solidFill>
                  </a:tcPr>
                </a:tc>
                <a:tc>
                  <a:txBody>
                    <a:bodyPr/>
                    <a:lstStyle/>
                    <a:p>
                      <a:r>
                        <a:rPr sz="1800" b="1">
                          <a:solidFill>
                            <a:srgbClr val="126A71"/>
                          </a:solidFill>
                          <a:latin typeface="Helvetica Neue"/>
                          <a:ea typeface="Helvetica Neue"/>
                          <a:cs typeface="Helvetica Neue"/>
                        </a:rPr>
                        <a:t>Applied Step 8 baseline</a:t>
                      </a:r>
                    </a:p>
                  </a:txBody>
                  <a:tcPr marL="95250" marR="95250" marT="123825" marB="95250">
                    <a:solidFill>
                      <a:srgbClr val="FCFCFA"/>
                    </a:solidFill>
                  </a:tcPr>
                </a:tc>
                <a:tc>
                  <a:txBody>
                    <a:bodyPr/>
                    <a:lstStyle/>
                    <a:p>
                      <a:r>
                        <a:rPr sz="1800" b="1">
                          <a:solidFill>
                            <a:srgbClr val="126A71"/>
                          </a:solidFill>
                          <a:latin typeface="Helvetica Neue"/>
                          <a:ea typeface="Helvetica Neue"/>
                          <a:cs typeface="Helvetica Neue"/>
                        </a:rPr>
                        <a:t>New Desktop draft</a:t>
                      </a:r>
                    </a:p>
                  </a:txBody>
                  <a:tcPr marL="95250" marR="95250" marT="123825" marB="95250">
                    <a:solidFill>
                      <a:srgbClr val="FCFCFA"/>
                    </a:solidFill>
                  </a:tcPr>
                </a:tc>
              </a:tr>
              <a:tr h="635000">
                <a:tc>
                  <a:txBody>
                    <a:bodyPr/>
                    <a:lstStyle/>
                    <a:p>
                      <a:r>
                        <a:rPr sz="1800">
                          <a:solidFill>
                            <a:srgbClr val="172A32"/>
                          </a:solidFill>
                          <a:latin typeface="Helvetica Neue"/>
                          <a:ea typeface="Helvetica Neue"/>
                          <a:cs typeface="Helvetica Neue"/>
                        </a:rPr>
                        <a:t>Physical DRC findings</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0</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38 errors + 21 warnings</a:t>
                      </a:r>
                    </a:p>
                  </a:txBody>
                  <a:tcPr marL="95250" marR="95250" marT="123825" marB="95250">
                    <a:solidFill>
                      <a:srgbClr val="FCFCFA"/>
                    </a:solidFill>
                  </a:tcPr>
                </a:tc>
              </a:tr>
              <a:tr h="635000">
                <a:tc>
                  <a:txBody>
                    <a:bodyPr/>
                    <a:lstStyle/>
                    <a:p>
                      <a:r>
                        <a:rPr sz="1800">
                          <a:solidFill>
                            <a:srgbClr val="172A32"/>
                          </a:solidFill>
                          <a:latin typeface="Helvetica Neue"/>
                          <a:ea typeface="Helvetica Neue"/>
                          <a:cs typeface="Helvetica Neue"/>
                        </a:rPr>
                        <a:t>Assigned open connections</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0</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20</a:t>
                      </a:r>
                    </a:p>
                  </a:txBody>
                  <a:tcPr marL="95250" marR="95250" marT="123825" marB="95250">
                    <a:solidFill>
                      <a:srgbClr val="FCFCFA"/>
                    </a:solidFill>
                  </a:tcPr>
                </a:tc>
              </a:tr>
              <a:tr h="635000">
                <a:tc>
                  <a:txBody>
                    <a:bodyPr/>
                    <a:lstStyle/>
                    <a:p>
                      <a:r>
                        <a:rPr sz="1800">
                          <a:solidFill>
                            <a:srgbClr val="172A32"/>
                          </a:solidFill>
                          <a:latin typeface="Helvetica Neue"/>
                          <a:ea typeface="Helvetica Neue"/>
                          <a:cs typeface="Helvetica Neue"/>
                        </a:rPr>
                        <a:t>Parity warnings</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204</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204</a:t>
                      </a:r>
                    </a:p>
                  </a:txBody>
                  <a:tcPr marL="95250" marR="95250" marT="123825" marB="95250">
                    <a:solidFill>
                      <a:srgbClr val="FCFCFA"/>
                    </a:solidFill>
                  </a:tcPr>
                </a:tc>
              </a:tr>
              <a:tr h="635000">
                <a:tc>
                  <a:txBody>
                    <a:bodyPr/>
                    <a:lstStyle/>
                    <a:p>
                      <a:r>
                        <a:rPr sz="1800">
                          <a:solidFill>
                            <a:srgbClr val="172A32"/>
                          </a:solidFill>
                          <a:latin typeface="Helvetica Neue"/>
                          <a:ea typeface="Helvetica Neue"/>
                          <a:cs typeface="Helvetica Neue"/>
                        </a:rPr>
                        <a:t>Timing acceptance</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Open</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Open</a:t>
                      </a:r>
                    </a:p>
                  </a:txBody>
                  <a:tcPr marL="95250" marR="95250" marT="123825" marB="95250">
                    <a:solidFill>
                      <a:srgbClr val="FCFCFA"/>
                    </a:solidFill>
                  </a:tcPr>
                </a:tc>
              </a:tr>
              <a:tr h="635000">
                <a:tc>
                  <a:txBody>
                    <a:bodyPr/>
                    <a:lstStyle/>
                    <a:p>
                      <a:r>
                        <a:rPr sz="1800">
                          <a:solidFill>
                            <a:srgbClr val="172A32"/>
                          </a:solidFill>
                          <a:latin typeface="Helvetica Neue"/>
                          <a:ea typeface="Helvetica Neue"/>
                          <a:cs typeface="Helvetica Neue"/>
                        </a:rPr>
                        <a:t>Power / startup circuit</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Pending</a:t>
                      </a:r>
                    </a:p>
                  </a:txBody>
                  <a:tcPr marL="95250" marR="95250" marT="123825" marB="95250">
                    <a:solidFill>
                      <a:srgbClr val="FCFCFA"/>
                    </a:solidFill>
                  </a:tcPr>
                </a:tc>
                <a:tc>
                  <a:txBody>
                    <a:bodyPr/>
                    <a:lstStyle/>
                    <a:p>
                      <a:r>
                        <a:rPr sz="1800">
                          <a:solidFill>
                            <a:srgbClr val="172A32"/>
                          </a:solidFill>
                          <a:latin typeface="Helvetica Neue"/>
                          <a:ea typeface="Helvetica Neue"/>
                          <a:cs typeface="Helvetica Neue"/>
                        </a:rPr>
                        <a:t>Pending</a:t>
                      </a:r>
                    </a:p>
                  </a:txBody>
                  <a:tcPr marL="95250" marR="95250" marT="123825" marB="95250">
                    <a:solidFill>
                      <a:srgbClr val="FCFCFA"/>
                    </a:solidFill>
                  </a:tcPr>
                </a:tc>
              </a:tr>
            </a:tbl>
          </a:graphicData>
        </a:graphic>
      </p:graphicFrame>
      <p:sp>
        <p:nvSpPr>
          <p:cNvPr id="3" name="">
            <a:extLst xmlns:a="http://schemas.openxmlformats.org/drawingml/2006/main">
              <a:ext uri="{FF2B5EF4-FFF2-40B4-BE49-F238E27FC236}">
                <a16:creationId xmlns:a16="http://schemas.microsoft.com/office/drawing/2014/main" id="{071F4276-B18A-4133-B3B3-B003BA22CD51}"/>
              </a:ext>
            </a:extLst>
          </p:cNvPr>
          <p:cNvSpPr>
            <a:spLocks xmlns:a="http://schemas.openxmlformats.org/drawingml/2006/main" noGrp="1"/>
          </p:cNvSpPr>
          <p:nvPr/>
        </p:nvSpPr>
        <p:spPr>
          <a:xfrm xmlns:a="http://schemas.openxmlformats.org/drawingml/2006/main">
            <a:off x="609600" y="5934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C6068"/>
                </a:solidFill>
                <a:latin typeface="Helvetica Neue"/>
                <a:ea typeface="Helvetica Neue"/>
                <a:cs typeface="Helvetica Neue"/>
              </a:defRPr>
            </a:defPPr>
          </a:lstStyle>
          <a:p xmlns:a="http://schemas.openxmlformats.org/drawingml/2006/main">
            <a:pPr>
              <a:defRPr sz="1500" b="0">
                <a:solidFill>
                  <a:srgbClr val="4C6068"/>
                </a:solidFill>
                <a:latin typeface="Helvetica Neue"/>
                <a:ea typeface="Helvetica Neue"/>
                <a:cs typeface="Helvetica Neue"/>
              </a:defRPr>
            </a:pPr>
            <a:r>
              <a:rPr sz="1500" b="0">
                <a:solidFill>
                  <a:srgbClr val="4C6068"/>
                </a:solidFill>
                <a:latin typeface="Helvetica Neue"/>
                <a:ea typeface="Helvetica Neue"/>
                <a:cs typeface="Helvetica Neue"/>
              </a:rPr>
              <a:t>Step 8 returned data/clock geometry: 48.547–63.830 mm, 15.283 mm spread. This measurement belongs to the saved baseline.</a:t>
            </a:r>
          </a:p>
        </p:txBody>
      </p:sp>
      <p:sp>
        <p:nvSpPr>
          <p:cNvPr id="4" name="">
            <a:extLst xmlns:a="http://schemas.openxmlformats.org/drawingml/2006/main">
              <a:ext uri="{FF2B5EF4-FFF2-40B4-BE49-F238E27FC236}">
                <a16:creationId xmlns:a16="http://schemas.microsoft.com/office/drawing/2014/main" id="{25A90D0C-7AE5-4835-98DF-717FC9C8EBED}"/>
              </a:ext>
            </a:extLst>
          </p:cNvPr>
          <p:cNvSpPr>
            <a:spLocks xmlns:a="http://schemas.openxmlformats.org/drawingml/2006/main" noGrp="1"/>
          </p:cNvSpPr>
          <p:nvPr/>
        </p:nvSpPr>
        <p:spPr>
          <a:xfrm xmlns:a="http://schemas.openxmlformats.org/drawingml/2006/main">
            <a:off x="11334750" y="6619875"/>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4C6068"/>
                </a:solidFill>
                <a:latin typeface="Helvetica Neue"/>
                <a:ea typeface="Helvetica Neue"/>
                <a:cs typeface="Helvetica Neue"/>
              </a:defRPr>
            </a:defPPr>
          </a:lstStyle>
          <a:p xmlns:a="http://schemas.openxmlformats.org/drawingml/2006/main">
            <a:pPr>
              <a:defRPr sz="900" b="0">
                <a:solidFill>
                  <a:srgbClr val="4C6068"/>
                </a:solidFill>
                <a:latin typeface="Helvetica Neue"/>
                <a:ea typeface="Helvetica Neue"/>
                <a:cs typeface="Helvetica Neue"/>
              </a:defRPr>
            </a:pPr>
            <a:r>
              <a:rPr sz="900" b="0">
                <a:solidFill>
                  <a:srgbClr val="4C6068"/>
                </a:solidFill>
                <a:latin typeface="Helvetica Neue"/>
                <a:ea typeface="Helvetica Neue"/>
                <a:cs typeface="Helvetica Neue"/>
              </a:rPr>
              <a:t>12 / 13</a:t>
            </a:r>
          </a:p>
        </p:txBody>
      </p:sp>
    </p:spTree>
    <p:extLst>
      <p:ext uri="{BB962C8B-B14F-4D97-AF65-F5344CB8AC3E}">
        <p14:creationId xmlns:p14="http://schemas.microsoft.com/office/powerpoint/2010/main" val="2029997219"/>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D71754A-88B0-443B-992A-EFFF916EC6F7}"/>
              </a:ext>
            </a:extLst>
          </p:cNvPr>
          <p:cNvSpPr>
            <a:spLocks xmlns:a="http://schemas.openxmlformats.org/drawingml/2006/main" noGrp="1"/>
          </p:cNvSpPr>
          <p:nvPr/>
        </p:nvSpPr>
        <p:spPr>
          <a:xfrm xmlns:a="http://schemas.openxmlformats.org/drawingml/2006/main">
            <a:off x="609600" y="457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2A32"/>
                </a:solidFill>
                <a:latin typeface="Helvetica Neue"/>
                <a:ea typeface="Helvetica Neue"/>
                <a:cs typeface="Helvetica Neue"/>
              </a:defRPr>
            </a:defPPr>
          </a:lstStyle>
          <a:p xmlns:a="http://schemas.openxmlformats.org/drawingml/2006/main">
            <a:pPr>
              <a:defRPr sz="3225" b="1">
                <a:solidFill>
                  <a:srgbClr val="172A32"/>
                </a:solidFill>
                <a:latin typeface="Helvetica Neue"/>
                <a:ea typeface="Helvetica Neue"/>
                <a:cs typeface="Helvetica Neue"/>
              </a:defRPr>
            </a:pPr>
            <a:r>
              <a:rPr sz="3225" b="1">
                <a:solidFill>
                  <a:srgbClr val="172A32"/>
                </a:solidFill>
                <a:latin typeface="Helvetica Neue"/>
                <a:ea typeface="Helvetica Neue"/>
                <a:cs typeface="Helvetica Neue"/>
              </a:rPr>
              <a:t>Next review decisions</a:t>
            </a:r>
          </a:p>
        </p:txBody>
      </p:sp>
      <p:sp>
        <p:nvSpPr>
          <p:cNvPr id="2" name="">
            <a:extLst xmlns:a="http://schemas.openxmlformats.org/drawingml/2006/main">
              <a:ext uri="{FF2B5EF4-FFF2-40B4-BE49-F238E27FC236}">
                <a16:creationId xmlns:a16="http://schemas.microsoft.com/office/drawing/2014/main" id="{6BF9E63F-0510-444E-A241-A2AC522EC5A1}"/>
              </a:ext>
            </a:extLst>
          </p:cNvPr>
          <p:cNvSpPr>
            <a:spLocks xmlns:a="http://schemas.openxmlformats.org/drawingml/2006/main" noGrp="1"/>
          </p:cNvSpPr>
          <p:nvPr/>
        </p:nvSpPr>
        <p:spPr>
          <a:xfrm xmlns:a="http://schemas.openxmlformats.org/drawingml/2006/main">
            <a:off x="609600" y="1485900"/>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A32"/>
                </a:solidFill>
                <a:latin typeface="Helvetica Neue"/>
                <a:ea typeface="Helvetica Neue"/>
                <a:cs typeface="Helvetica Neue"/>
              </a:defRPr>
            </a:defPPr>
          </a:lstStyle>
          <a:p xmlns:a="http://schemas.openxmlformats.org/drawingml/2006/main">
            <a:pPr>
              <a:defRPr sz="1875" b="0">
                <a:solidFill>
                  <a:srgbClr val="172A32"/>
                </a:solidFill>
                <a:latin typeface="Helvetica Neue"/>
                <a:ea typeface="Helvetica Neue"/>
                <a:cs typeface="Helvetica Neue"/>
              </a:defRPr>
            </a:pPr>
            <a:r>
              <a:rPr sz="1875" b="0">
                <a:solidFill>
                  <a:srgbClr val="172A32"/>
                </a:solidFill>
                <a:latin typeface="Helvetica Neue"/>
                <a:ea typeface="Helvetica Neue"/>
                <a:cs typeface="Helvetica Neue"/>
              </a:rPr>
              <a:t>Confirm the FPGA clock path, oscillator tolerance and SPI boot behavior for the selected parts.</a:t>
            </a:r>
          </a:p>
        </p:txBody>
      </p:sp>
      <p:sp>
        <p:nvSpPr>
          <p:cNvPr id="3" name="">
            <a:extLst xmlns:a="http://schemas.openxmlformats.org/drawingml/2006/main">
              <a:ext uri="{FF2B5EF4-FFF2-40B4-BE49-F238E27FC236}">
                <a16:creationId xmlns:a16="http://schemas.microsoft.com/office/drawing/2014/main" id="{3B6821C8-C3D6-41FC-832A-37CFB5904608}"/>
              </a:ext>
            </a:extLst>
          </p:cNvPr>
          <p:cNvSpPr>
            <a:spLocks xmlns:a="http://schemas.openxmlformats.org/drawingml/2006/main" noGrp="1"/>
          </p:cNvSpPr>
          <p:nvPr/>
        </p:nvSpPr>
        <p:spPr>
          <a:xfrm xmlns:a="http://schemas.openxmlformats.org/drawingml/2006/main">
            <a:off x="609600" y="2276475"/>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A32"/>
                </a:solidFill>
                <a:latin typeface="Helvetica Neue"/>
                <a:ea typeface="Helvetica Neue"/>
                <a:cs typeface="Helvetica Neue"/>
              </a:defRPr>
            </a:defPPr>
          </a:lstStyle>
          <a:p xmlns:a="http://schemas.openxmlformats.org/drawingml/2006/main">
            <a:pPr>
              <a:defRPr sz="1875" b="0">
                <a:solidFill>
                  <a:srgbClr val="172A32"/>
                </a:solidFill>
                <a:latin typeface="Helvetica Neue"/>
                <a:ea typeface="Helvetica Neue"/>
                <a:cs typeface="Helvetica Neue"/>
              </a:defRPr>
            </a:pPr>
            <a:r>
              <a:rPr sz="1875" b="0">
                <a:solidFill>
                  <a:srgbClr val="172A32"/>
                </a:solidFill>
                <a:latin typeface="Helvetica Neue"/>
                <a:ea typeface="Helvetica Neue"/>
                <a:cs typeface="Helvetica Neue"/>
              </a:rPr>
              <a:t>Review the compact placement and carrier routing with Gerald, then route against an explicit timing and return-path plan.</a:t>
            </a:r>
          </a:p>
        </p:txBody>
      </p:sp>
      <p:sp>
        <p:nvSpPr>
          <p:cNvPr id="4" name="">
            <a:extLst xmlns:a="http://schemas.openxmlformats.org/drawingml/2006/main">
              <a:ext uri="{FF2B5EF4-FFF2-40B4-BE49-F238E27FC236}">
                <a16:creationId xmlns:a16="http://schemas.microsoft.com/office/drawing/2014/main" id="{2FA5B819-E035-42B1-8EF8-BB7BB8A9680E}"/>
              </a:ext>
            </a:extLst>
          </p:cNvPr>
          <p:cNvSpPr>
            <a:spLocks xmlns:a="http://schemas.openxmlformats.org/drawingml/2006/main" noGrp="1"/>
          </p:cNvSpPr>
          <p:nvPr/>
        </p:nvSpPr>
        <p:spPr>
          <a:xfrm xmlns:a="http://schemas.openxmlformats.org/drawingml/2006/main">
            <a:off x="609600" y="3067050"/>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A32"/>
                </a:solidFill>
                <a:latin typeface="Helvetica Neue"/>
                <a:ea typeface="Helvetica Neue"/>
                <a:cs typeface="Helvetica Neue"/>
              </a:defRPr>
            </a:defPPr>
          </a:lstStyle>
          <a:p xmlns:a="http://schemas.openxmlformats.org/drawingml/2006/main">
            <a:pPr>
              <a:defRPr sz="1875" b="0">
                <a:solidFill>
                  <a:srgbClr val="172A32"/>
                </a:solidFill>
                <a:latin typeface="Helvetica Neue"/>
                <a:ea typeface="Helvetica Neue"/>
                <a:cs typeface="Helvetica Neue"/>
              </a:defRPr>
            </a:pPr>
            <a:r>
              <a:rPr sz="1875" b="0">
                <a:solidFill>
                  <a:srgbClr val="172A32"/>
                </a:solidFill>
                <a:latin typeface="Helvetica Neue"/>
                <a:ea typeface="Helvetica Neue"/>
                <a:cs typeface="Helvetica Neue"/>
              </a:rPr>
              <a:t>Close ASIC pad limits, per-rail loads, power order and shared-control loading before operating the direct interface.</a:t>
            </a:r>
          </a:p>
        </p:txBody>
      </p:sp>
      <p:sp>
        <p:nvSpPr>
          <p:cNvPr id="5" name="">
            <a:extLst xmlns:a="http://schemas.openxmlformats.org/drawingml/2006/main">
              <a:ext uri="{FF2B5EF4-FFF2-40B4-BE49-F238E27FC236}">
                <a16:creationId xmlns:a16="http://schemas.microsoft.com/office/drawing/2014/main" id="{585766C4-84E3-4C9C-AE99-4456C999A0DA}"/>
              </a:ext>
            </a:extLst>
          </p:cNvPr>
          <p:cNvSpPr>
            <a:spLocks xmlns:a="http://schemas.openxmlformats.org/drawingml/2006/main" noGrp="1"/>
          </p:cNvSpPr>
          <p:nvPr/>
        </p:nvSpPr>
        <p:spPr>
          <a:xfrm xmlns:a="http://schemas.openxmlformats.org/drawingml/2006/main">
            <a:off x="609600" y="3857625"/>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A32"/>
                </a:solidFill>
                <a:latin typeface="Helvetica Neue"/>
                <a:ea typeface="Helvetica Neue"/>
                <a:cs typeface="Helvetica Neue"/>
              </a:defRPr>
            </a:defPPr>
          </a:lstStyle>
          <a:p xmlns:a="http://schemas.openxmlformats.org/drawingml/2006/main">
            <a:pPr>
              <a:defRPr sz="1875" b="0">
                <a:solidFill>
                  <a:srgbClr val="172A32"/>
                </a:solidFill>
                <a:latin typeface="Helvetica Neue"/>
                <a:ea typeface="Helvetica Neue"/>
                <a:cs typeface="Helvetica Neue"/>
              </a:defRPr>
            </a:pPr>
            <a:r>
              <a:rPr sz="1875" b="0">
                <a:solidFill>
                  <a:srgbClr val="172A32"/>
                </a:solidFill>
                <a:latin typeface="Helvetica Neue"/>
                <a:ea typeface="Helvetica Neue"/>
                <a:cs typeface="Helvetica Neue"/>
              </a:rPr>
              <a:t>Check simultaneous connector mating, actual component bodies and the manufacturer’s stackup before fabrication.</a:t>
            </a:r>
          </a:p>
        </p:txBody>
      </p:sp>
      <p:sp>
        <p:nvSpPr>
          <p:cNvPr id="6" name="">
            <a:extLst xmlns:a="http://schemas.openxmlformats.org/drawingml/2006/main">
              <a:ext uri="{FF2B5EF4-FFF2-40B4-BE49-F238E27FC236}">
                <a16:creationId xmlns:a16="http://schemas.microsoft.com/office/drawing/2014/main" id="{B415CFE2-30CB-4FDB-B974-756918C8B1E2}"/>
              </a:ext>
            </a:extLst>
          </p:cNvPr>
          <p:cNvSpPr>
            <a:spLocks xmlns:a="http://schemas.openxmlformats.org/drawingml/2006/main" noGrp="1"/>
          </p:cNvSpPr>
          <p:nvPr/>
        </p:nvSpPr>
        <p:spPr>
          <a:xfrm xmlns:a="http://schemas.openxmlformats.org/drawingml/2006/main">
            <a:off x="609600" y="4648200"/>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A32"/>
                </a:solidFill>
                <a:latin typeface="Helvetica Neue"/>
                <a:ea typeface="Helvetica Neue"/>
                <a:cs typeface="Helvetica Neue"/>
              </a:defRPr>
            </a:defPPr>
          </a:lstStyle>
          <a:p xmlns:a="http://schemas.openxmlformats.org/drawingml/2006/main">
            <a:pPr>
              <a:defRPr sz="1875" b="0">
                <a:solidFill>
                  <a:srgbClr val="172A32"/>
                </a:solidFill>
                <a:latin typeface="Helvetica Neue"/>
                <a:ea typeface="Helvetica Neue"/>
                <a:cs typeface="Helvetica Neue"/>
              </a:defRPr>
            </a:pPr>
            <a:r>
              <a:rPr sz="1875" b="0">
                <a:solidFill>
                  <a:srgbClr val="172A32"/>
                </a:solidFill>
                <a:latin typeface="Helvetica Neue"/>
                <a:ea typeface="Helvetica Neue"/>
                <a:cs typeface="Helvetica Neue"/>
              </a:rPr>
              <a:t>Build the matched FPGA/host workflow and test one ASIC before assessing eight-chip operation.</a:t>
            </a:r>
          </a:p>
        </p:txBody>
      </p:sp>
      <p:sp>
        <p:nvSpPr>
          <p:cNvPr id="7" name="">
            <a:extLst xmlns:a="http://schemas.openxmlformats.org/drawingml/2006/main">
              <a:ext uri="{FF2B5EF4-FFF2-40B4-BE49-F238E27FC236}">
                <a16:creationId xmlns:a16="http://schemas.microsoft.com/office/drawing/2014/main" id="{430947BC-0F4B-4C81-B196-E752CA362615}"/>
              </a:ext>
            </a:extLst>
          </p:cNvPr>
          <p:cNvSpPr>
            <a:spLocks xmlns:a="http://schemas.openxmlformats.org/drawingml/2006/main" noGrp="1"/>
          </p:cNvSpPr>
          <p:nvPr/>
        </p:nvSpPr>
        <p:spPr>
          <a:xfrm xmlns:a="http://schemas.openxmlformats.org/drawingml/2006/main">
            <a:off x="11334750" y="6619875"/>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4C6068"/>
                </a:solidFill>
                <a:latin typeface="Helvetica Neue"/>
                <a:ea typeface="Helvetica Neue"/>
                <a:cs typeface="Helvetica Neue"/>
              </a:defRPr>
            </a:defPPr>
          </a:lstStyle>
          <a:p xmlns:a="http://schemas.openxmlformats.org/drawingml/2006/main">
            <a:pPr>
              <a:defRPr sz="900" b="0">
                <a:solidFill>
                  <a:srgbClr val="4C6068"/>
                </a:solidFill>
                <a:latin typeface="Helvetica Neue"/>
                <a:ea typeface="Helvetica Neue"/>
                <a:cs typeface="Helvetica Neue"/>
              </a:defRPr>
            </a:pPr>
            <a:r>
              <a:rPr sz="900" b="0">
                <a:solidFill>
                  <a:srgbClr val="4C6068"/>
                </a:solidFill>
                <a:latin typeface="Helvetica Neue"/>
                <a:ea typeface="Helvetica Neue"/>
                <a:cs typeface="Helvetica Neue"/>
              </a:rPr>
              <a:t>13 / 13</a:t>
            </a:r>
          </a:p>
        </p:txBody>
      </p:sp>
    </p:spTree>
    <p:extLst>
      <p:ext uri="{BB962C8B-B14F-4D97-AF65-F5344CB8AC3E}">
        <p14:creationId xmlns:p14="http://schemas.microsoft.com/office/powerpoint/2010/main" val="12663319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2026-10-07T12:30:14.1600000Z</dcterms:created>
  <dcterms:modified xsi:type="dcterms:W3CDTF">2026-10-07T12:30:14.1600000Z</dcterms:modified>
</coreProperties>
</file>